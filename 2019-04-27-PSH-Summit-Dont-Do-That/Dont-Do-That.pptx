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1"/>
  </p:sldMasterIdLst>
  <p:notesMasterIdLst>
    <p:notesMasterId r:id="rId8"/>
  </p:notesMasterIdLst>
  <p:sldIdLst>
    <p:sldId id="257" r:id="rId2"/>
    <p:sldId id="264" r:id="rId3"/>
    <p:sldId id="267" r:id="rId4"/>
    <p:sldId id="266" r:id="rId5"/>
    <p:sldId id="268" r:id="rId6"/>
    <p:sldId id="265"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ign Notes" id="{8B995469-BB0B-2D41-B3AD-40FEA49126C5}">
          <p14:sldIdLst/>
        </p14:section>
        <p14:section name="Your Presentation" id="{A8D7B0BD-02B5-F641-8106-1F81A10ED379}">
          <p14:sldIdLst>
            <p14:sldId id="257"/>
            <p14:sldId id="264"/>
            <p14:sldId id="267"/>
            <p14:sldId id="266"/>
            <p14:sldId id="268"/>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p:cViewPr varScale="1">
        <p:scale>
          <a:sx n="87" d="100"/>
          <a:sy n="87" d="100"/>
        </p:scale>
        <p:origin x="66"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71B6E-14EC-440F-B577-C74BAD738206}" type="datetimeFigureOut">
              <a:rPr lang="en-GB" smtClean="0"/>
              <a:t>01/05/2019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E14135-2A33-4CCF-9B56-99CB3FCADF88}" type="slidenum">
              <a:rPr lang="en-GB" smtClean="0"/>
              <a:t>‹#›</a:t>
            </a:fld>
            <a:endParaRPr lang="en-GB"/>
          </a:p>
        </p:txBody>
      </p:sp>
    </p:spTree>
    <p:extLst>
      <p:ext uri="{BB962C8B-B14F-4D97-AF65-F5344CB8AC3E}">
        <p14:creationId xmlns:p14="http://schemas.microsoft.com/office/powerpoint/2010/main" val="2602474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Readable is the most important of these areas, if future you and other people can’t read your code then how can you be sure it’s doing what you intended it to do? And if people can’t tell what your code is doing then they aren’t likely to use it to do what you think it should do.</a:t>
            </a:r>
          </a:p>
          <a:p>
            <a:endParaRPr lang="en-GB" dirty="0"/>
          </a:p>
          <a:p>
            <a:r>
              <a:rPr lang="en-GB" dirty="0"/>
              <a:t>Maintainability requires readability, if you can’t read the code you’ve got then you can’t make improvements to it, or fix bugs in it. </a:t>
            </a:r>
          </a:p>
          <a:p>
            <a:endParaRPr lang="en-GB" dirty="0"/>
          </a:p>
          <a:p>
            <a:r>
              <a:rPr lang="en-GB" dirty="0"/>
              <a:t>Performant enough is a very vague term but that’s just how it is. Programmers often try to optimise too much and often too early in the development process. If you’ve got code that runs once a month but takes 10 hours then you probably don’t need to worry about optimising it much more if you’re getting the right data. If it runs once a day and takes that long then you probably want to look at optimising that a bit.</a:t>
            </a:r>
          </a:p>
          <a:p>
            <a:endParaRPr lang="en-GB" dirty="0"/>
          </a:p>
        </p:txBody>
      </p:sp>
      <p:sp>
        <p:nvSpPr>
          <p:cNvPr id="4" name="Slide Number Placeholder 3"/>
          <p:cNvSpPr>
            <a:spLocks noGrp="1"/>
          </p:cNvSpPr>
          <p:nvPr>
            <p:ph type="sldNum" sz="quarter" idx="5"/>
          </p:nvPr>
        </p:nvSpPr>
        <p:spPr/>
        <p:txBody>
          <a:bodyPr/>
          <a:lstStyle/>
          <a:p>
            <a:fld id="{F3E14135-2A33-4CCF-9B56-99CB3FCADF88}" type="slidenum">
              <a:rPr lang="en-GB" smtClean="0"/>
              <a:t>2</a:t>
            </a:fld>
            <a:endParaRPr lang="en-GB"/>
          </a:p>
        </p:txBody>
      </p:sp>
    </p:spTree>
    <p:extLst>
      <p:ext uri="{BB962C8B-B14F-4D97-AF65-F5344CB8AC3E}">
        <p14:creationId xmlns:p14="http://schemas.microsoft.com/office/powerpoint/2010/main" val="2929210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Folders aren’t source control, a network share with Shadow Copies isn’t source control, files named v1.ps1 etc aren’t source control. Comments at the top of your script aren’t source control.</a:t>
            </a:r>
          </a:p>
          <a:p>
            <a:endParaRPr lang="en-GB" dirty="0"/>
          </a:p>
        </p:txBody>
      </p:sp>
      <p:sp>
        <p:nvSpPr>
          <p:cNvPr id="4" name="Slide Number Placeholder 3"/>
          <p:cNvSpPr>
            <a:spLocks noGrp="1"/>
          </p:cNvSpPr>
          <p:nvPr>
            <p:ph type="sldNum" sz="quarter" idx="5"/>
          </p:nvPr>
        </p:nvSpPr>
        <p:spPr/>
        <p:txBody>
          <a:bodyPr/>
          <a:lstStyle/>
          <a:p>
            <a:fld id="{F3E14135-2A33-4CCF-9B56-99CB3FCADF88}" type="slidenum">
              <a:rPr lang="en-GB" smtClean="0"/>
              <a:t>3</a:t>
            </a:fld>
            <a:endParaRPr lang="en-GB"/>
          </a:p>
        </p:txBody>
      </p:sp>
    </p:spTree>
    <p:extLst>
      <p:ext uri="{BB962C8B-B14F-4D97-AF65-F5344CB8AC3E}">
        <p14:creationId xmlns:p14="http://schemas.microsoft.com/office/powerpoint/2010/main" val="18704750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59200" y="376194"/>
            <a:ext cx="4673600" cy="965200"/>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5656" y="6214207"/>
            <a:ext cx="1228344" cy="4297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59200" y="376194"/>
            <a:ext cx="4673600" cy="9652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5/1/2019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6" name="TextBox 5"/>
          <p:cNvSpPr txBox="1"/>
          <p:nvPr userDrawn="1"/>
        </p:nvSpPr>
        <p:spPr>
          <a:xfrm>
            <a:off x="1969477" y="1594338"/>
            <a:ext cx="8768861" cy="1323439"/>
          </a:xfrm>
          <a:prstGeom prst="rect">
            <a:avLst/>
          </a:prstGeom>
          <a:noFill/>
        </p:spPr>
        <p:txBody>
          <a:bodyPr wrap="square" rtlCol="0">
            <a:spAutoFit/>
          </a:bodyPr>
          <a:lstStyle/>
          <a:p>
            <a:r>
              <a:rPr lang="en-US" sz="8000" b="1" dirty="0"/>
              <a:t>DEMO</a:t>
            </a:r>
          </a:p>
        </p:txBody>
      </p:sp>
      <p:sp>
        <p:nvSpPr>
          <p:cNvPr id="8" name="Content Placeholder 7"/>
          <p:cNvSpPr>
            <a:spLocks noGrp="1"/>
          </p:cNvSpPr>
          <p:nvPr>
            <p:ph sz="quarter" idx="13"/>
          </p:nvPr>
        </p:nvSpPr>
        <p:spPr>
          <a:xfrm>
            <a:off x="1969478" y="3141663"/>
            <a:ext cx="8792186" cy="2039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804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86708" y="365125"/>
            <a:ext cx="9267092" cy="1325563"/>
          </a:xfrm>
        </p:spPr>
        <p:txBody>
          <a:bodyPr/>
          <a:lstStyle/>
          <a:p>
            <a:r>
              <a:rPr lang="en-US"/>
              <a:t>Click to edit Master title style</a:t>
            </a:r>
          </a:p>
        </p:txBody>
      </p:sp>
      <p:sp>
        <p:nvSpPr>
          <p:cNvPr id="7" name="Content Placeholder 6"/>
          <p:cNvSpPr>
            <a:spLocks noGrp="1"/>
          </p:cNvSpPr>
          <p:nvPr>
            <p:ph sz="quarter" idx="13"/>
          </p:nvPr>
        </p:nvSpPr>
        <p:spPr>
          <a:xfrm>
            <a:off x="2086708" y="1911350"/>
            <a:ext cx="9267092" cy="3586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userDrawn="1"/>
        </p:nvSpPr>
        <p:spPr>
          <a:xfrm>
            <a:off x="0" y="0"/>
            <a:ext cx="1688123"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4400" dirty="0"/>
              <a:t>DESIGN</a:t>
            </a:r>
            <a:r>
              <a:rPr lang="en-US" sz="4400" baseline="0" dirty="0"/>
              <a:t> </a:t>
            </a:r>
            <a:r>
              <a:rPr lang="en-US" sz="4400" dirty="0"/>
              <a:t>NOTES</a:t>
            </a:r>
          </a:p>
        </p:txBody>
      </p:sp>
    </p:spTree>
    <p:extLst>
      <p:ext uri="{BB962C8B-B14F-4D97-AF65-F5344CB8AC3E}">
        <p14:creationId xmlns:p14="http://schemas.microsoft.com/office/powerpoint/2010/main" val="185405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7" name="TextBox 6"/>
          <p:cNvSpPr txBox="1"/>
          <p:nvPr userDrawn="1"/>
        </p:nvSpPr>
        <p:spPr>
          <a:xfrm>
            <a:off x="504093" y="281354"/>
            <a:ext cx="8768861" cy="1323439"/>
          </a:xfrm>
          <a:prstGeom prst="rect">
            <a:avLst/>
          </a:prstGeom>
          <a:noFill/>
        </p:spPr>
        <p:txBody>
          <a:bodyPr wrap="square" rtlCol="0">
            <a:spAutoFit/>
          </a:bodyPr>
          <a:lstStyle/>
          <a:p>
            <a:r>
              <a:rPr lang="en-US" sz="8000" b="1" dirty="0"/>
              <a:t>THAN</a:t>
            </a:r>
            <a:r>
              <a:rPr lang="en-US" sz="8000" b="1" baseline="0" dirty="0"/>
              <a:t>K YOU!</a:t>
            </a:r>
            <a:endParaRPr lang="en-US" sz="8000" b="1" dirty="0"/>
          </a:p>
        </p:txBody>
      </p:sp>
      <p:sp>
        <p:nvSpPr>
          <p:cNvPr id="8" name="TextBox 7"/>
          <p:cNvSpPr txBox="1"/>
          <p:nvPr userDrawn="1"/>
        </p:nvSpPr>
        <p:spPr>
          <a:xfrm>
            <a:off x="644770" y="1373960"/>
            <a:ext cx="8768861" cy="461665"/>
          </a:xfrm>
          <a:prstGeom prst="rect">
            <a:avLst/>
          </a:prstGeom>
          <a:noFill/>
        </p:spPr>
        <p:txBody>
          <a:bodyPr wrap="square" rtlCol="0">
            <a:spAutoFit/>
          </a:bodyPr>
          <a:lstStyle/>
          <a:p>
            <a:r>
              <a:rPr lang="en-US" sz="2400" b="0" dirty="0"/>
              <a:t>Please use the event app or </a:t>
            </a:r>
            <a:r>
              <a:rPr lang="en-US" sz="2400" b="0" dirty="0" err="1"/>
              <a:t>Sched.com</a:t>
            </a:r>
            <a:r>
              <a:rPr lang="en-US" sz="2400" b="0" dirty="0"/>
              <a:t> to submit a session rating!</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6154" y="5487456"/>
            <a:ext cx="4673600" cy="965200"/>
          </a:xfrm>
          <a:prstGeom prst="rect">
            <a:avLst/>
          </a:prstGeom>
        </p:spPr>
      </p:pic>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4093" y="5610993"/>
            <a:ext cx="2052515" cy="718126"/>
          </a:xfrm>
          <a:prstGeom prst="rect">
            <a:avLst/>
          </a:prstGeom>
        </p:spPr>
      </p:pic>
    </p:spTree>
    <p:extLst>
      <p:ext uri="{BB962C8B-B14F-4D97-AF65-F5344CB8AC3E}">
        <p14:creationId xmlns:p14="http://schemas.microsoft.com/office/powerpoint/2010/main" val="1449587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5/1/2019</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pic>
        <p:nvPicPr>
          <p:cNvPr id="10" name="Picture 9"/>
          <p:cNvPicPr>
            <a:picLocks noChangeAspect="1"/>
          </p:cNvPicPr>
          <p:nvPr userDrawn="1"/>
        </p:nvPicPr>
        <p:blipFill>
          <a:blip r:embed="rId14">
            <a:alphaModFix amt="20000"/>
            <a:extLst>
              <a:ext uri="{28A0092B-C50C-407E-A947-70E740481C1C}">
                <a14:useLocalDpi xmlns:a14="http://schemas.microsoft.com/office/drawing/2010/main" val="0"/>
              </a:ext>
            </a:extLst>
          </a:blip>
          <a:stretch>
            <a:fillRect/>
          </a:stretch>
        </p:blipFill>
        <p:spPr>
          <a:xfrm>
            <a:off x="125626" y="167159"/>
            <a:ext cx="3855289" cy="3601652"/>
          </a:xfrm>
          <a:prstGeom prst="rect">
            <a:avLst/>
          </a:prstGeom>
        </p:spPr>
      </p:pic>
    </p:spTree>
    <p:extLst>
      <p:ext uri="{BB962C8B-B14F-4D97-AF65-F5344CB8AC3E}">
        <p14:creationId xmlns:p14="http://schemas.microsoft.com/office/powerpoint/2010/main" val="796474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br>
              <a:rPr lang="en-GB" dirty="0"/>
            </a:br>
            <a:r>
              <a:rPr lang="en-GB" b="1" dirty="0"/>
              <a:t>Don't do that, do this instead</a:t>
            </a:r>
            <a:endParaRPr lang="en-US" dirty="0"/>
          </a:p>
        </p:txBody>
      </p:sp>
      <p:sp>
        <p:nvSpPr>
          <p:cNvPr id="5" name="Subtitle 4"/>
          <p:cNvSpPr>
            <a:spLocks noGrp="1"/>
          </p:cNvSpPr>
          <p:nvPr>
            <p:ph type="subTitle" idx="1"/>
          </p:nvPr>
        </p:nvSpPr>
        <p:spPr/>
        <p:txBody>
          <a:bodyPr/>
          <a:lstStyle/>
          <a:p>
            <a:r>
              <a:rPr lang="en-GB" b="1" dirty="0"/>
              <a:t>PowerShell bad practices and how to solve them</a:t>
            </a:r>
            <a:endParaRPr lang="en-GB" dirty="0"/>
          </a:p>
        </p:txBody>
      </p:sp>
      <p:sp>
        <p:nvSpPr>
          <p:cNvPr id="2" name="TextBox 1">
            <a:extLst>
              <a:ext uri="{FF2B5EF4-FFF2-40B4-BE49-F238E27FC236}">
                <a16:creationId xmlns:a16="http://schemas.microsoft.com/office/drawing/2014/main" id="{FA6F561C-3D73-4020-BFFA-3791B79E0801}"/>
              </a:ext>
            </a:extLst>
          </p:cNvPr>
          <p:cNvSpPr txBox="1"/>
          <p:nvPr/>
        </p:nvSpPr>
        <p:spPr>
          <a:xfrm>
            <a:off x="3700491" y="6362472"/>
            <a:ext cx="4791018"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595910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Three key goals:</a:t>
            </a:r>
            <a:endParaRPr lang="en-US" dirty="0"/>
          </a:p>
        </p:txBody>
      </p:sp>
      <p:sp>
        <p:nvSpPr>
          <p:cNvPr id="4" name="Title 1">
            <a:extLst>
              <a:ext uri="{FF2B5EF4-FFF2-40B4-BE49-F238E27FC236}">
                <a16:creationId xmlns:a16="http://schemas.microsoft.com/office/drawing/2014/main" id="{2F3FD6E1-4077-4939-A56B-F649AF1BE3E6}"/>
              </a:ext>
            </a:extLst>
          </p:cNvPr>
          <p:cNvSpPr txBox="1">
            <a:spLocks/>
          </p:cNvSpPr>
          <p:nvPr/>
        </p:nvSpPr>
        <p:spPr>
          <a:xfrm>
            <a:off x="838200" y="2112818"/>
            <a:ext cx="10515600" cy="1364673"/>
          </a:xfrm>
          <a:prstGeom prst="rect">
            <a:avLst/>
          </a:prstGeom>
        </p:spPr>
        <p:txBody>
          <a:bodyPr anchor="ctr">
            <a:normAutofit/>
          </a:bodyPr>
          <a:lstStyle>
            <a:lvl1pPr algn="l" defTabSz="914400" rtl="0" eaLnBrk="1" latinLnBrk="0" hangingPunct="1">
              <a:lnSpc>
                <a:spcPct val="125000"/>
              </a:lnSpc>
              <a:spcBef>
                <a:spcPct val="0"/>
              </a:spcBef>
              <a:buNone/>
              <a:defRPr sz="4400" kern="1200">
                <a:solidFill>
                  <a:srgbClr val="21B9EC"/>
                </a:solidFill>
                <a:latin typeface="+mj-lt"/>
                <a:ea typeface="+mj-ea"/>
                <a:cs typeface="+mj-cs"/>
              </a:defRPr>
            </a:lvl1pPr>
          </a:lstStyle>
          <a:p>
            <a:r>
              <a:rPr lang="en-GB" dirty="0">
                <a:solidFill>
                  <a:schemeClr val="tx1"/>
                </a:solidFill>
              </a:rPr>
              <a:t>Readable</a:t>
            </a:r>
          </a:p>
        </p:txBody>
      </p:sp>
      <p:sp>
        <p:nvSpPr>
          <p:cNvPr id="5" name="Title 1">
            <a:extLst>
              <a:ext uri="{FF2B5EF4-FFF2-40B4-BE49-F238E27FC236}">
                <a16:creationId xmlns:a16="http://schemas.microsoft.com/office/drawing/2014/main" id="{8A1375D1-D4CC-4C83-B284-F58CAF1F0DE7}"/>
              </a:ext>
            </a:extLst>
          </p:cNvPr>
          <p:cNvSpPr txBox="1">
            <a:spLocks/>
          </p:cNvSpPr>
          <p:nvPr/>
        </p:nvSpPr>
        <p:spPr>
          <a:xfrm>
            <a:off x="838200" y="4232564"/>
            <a:ext cx="10515600" cy="1246910"/>
          </a:xfrm>
          <a:prstGeom prst="rect">
            <a:avLst/>
          </a:prstGeom>
        </p:spPr>
        <p:txBody>
          <a:bodyPr anchor="ctr">
            <a:normAutofit/>
          </a:bodyPr>
          <a:lstStyle>
            <a:lvl1pPr algn="l" defTabSz="914400" rtl="0" eaLnBrk="1" latinLnBrk="0" hangingPunct="1">
              <a:lnSpc>
                <a:spcPct val="125000"/>
              </a:lnSpc>
              <a:spcBef>
                <a:spcPct val="0"/>
              </a:spcBef>
              <a:buNone/>
              <a:defRPr sz="4400" kern="1200">
                <a:solidFill>
                  <a:srgbClr val="21B9EC"/>
                </a:solidFill>
                <a:latin typeface="+mj-lt"/>
                <a:ea typeface="+mj-ea"/>
                <a:cs typeface="+mj-cs"/>
              </a:defRPr>
            </a:lvl1pPr>
          </a:lstStyle>
          <a:p>
            <a:r>
              <a:rPr lang="en-GB" dirty="0">
                <a:solidFill>
                  <a:schemeClr val="tx1"/>
                </a:solidFill>
              </a:rPr>
              <a:t>Performant enough</a:t>
            </a:r>
          </a:p>
        </p:txBody>
      </p:sp>
      <p:sp>
        <p:nvSpPr>
          <p:cNvPr id="6" name="Title 1">
            <a:extLst>
              <a:ext uri="{FF2B5EF4-FFF2-40B4-BE49-F238E27FC236}">
                <a16:creationId xmlns:a16="http://schemas.microsoft.com/office/drawing/2014/main" id="{6F34A786-1970-4146-BDAB-46BD926454A5}"/>
              </a:ext>
            </a:extLst>
          </p:cNvPr>
          <p:cNvSpPr txBox="1">
            <a:spLocks/>
          </p:cNvSpPr>
          <p:nvPr/>
        </p:nvSpPr>
        <p:spPr>
          <a:xfrm>
            <a:off x="838200" y="2971800"/>
            <a:ext cx="10515600" cy="1731818"/>
          </a:xfrm>
          <a:prstGeom prst="rect">
            <a:avLst/>
          </a:prstGeom>
        </p:spPr>
        <p:txBody>
          <a:bodyPr anchor="ctr">
            <a:normAutofit/>
          </a:bodyPr>
          <a:lstStyle>
            <a:lvl1pPr algn="l" defTabSz="914400" rtl="0" eaLnBrk="1" latinLnBrk="0" hangingPunct="1">
              <a:lnSpc>
                <a:spcPct val="125000"/>
              </a:lnSpc>
              <a:spcBef>
                <a:spcPct val="0"/>
              </a:spcBef>
              <a:buNone/>
              <a:defRPr sz="4400" kern="1200">
                <a:solidFill>
                  <a:srgbClr val="21B9EC"/>
                </a:solidFill>
                <a:latin typeface="+mj-lt"/>
                <a:ea typeface="+mj-ea"/>
                <a:cs typeface="+mj-cs"/>
              </a:defRPr>
            </a:lvl1pPr>
          </a:lstStyle>
          <a:p>
            <a:r>
              <a:rPr lang="en-GB" dirty="0">
                <a:solidFill>
                  <a:schemeClr val="tx1"/>
                </a:solidFill>
              </a:rPr>
              <a:t>Maintainable</a:t>
            </a:r>
          </a:p>
        </p:txBody>
      </p:sp>
      <p:sp>
        <p:nvSpPr>
          <p:cNvPr id="7" name="TextBox 6">
            <a:extLst>
              <a:ext uri="{FF2B5EF4-FFF2-40B4-BE49-F238E27FC236}">
                <a16:creationId xmlns:a16="http://schemas.microsoft.com/office/drawing/2014/main" id="{FA086D72-CE00-434E-9CB8-D6D78D0E038C}"/>
              </a:ext>
            </a:extLst>
          </p:cNvPr>
          <p:cNvSpPr txBox="1"/>
          <p:nvPr/>
        </p:nvSpPr>
        <p:spPr>
          <a:xfrm>
            <a:off x="3700491" y="6362472"/>
            <a:ext cx="4791018"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139567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D4DC1-95DB-48B8-BC78-7F460F1F7F8B}"/>
              </a:ext>
            </a:extLst>
          </p:cNvPr>
          <p:cNvSpPr>
            <a:spLocks noGrp="1"/>
          </p:cNvSpPr>
          <p:nvPr>
            <p:ph type="title"/>
          </p:nvPr>
        </p:nvSpPr>
        <p:spPr/>
        <p:txBody>
          <a:bodyPr/>
          <a:lstStyle/>
          <a:p>
            <a:r>
              <a:rPr lang="en-GB" dirty="0"/>
              <a:t>Source Control</a:t>
            </a:r>
          </a:p>
        </p:txBody>
      </p:sp>
      <p:sp>
        <p:nvSpPr>
          <p:cNvPr id="3" name="Content Placeholder 2">
            <a:extLst>
              <a:ext uri="{FF2B5EF4-FFF2-40B4-BE49-F238E27FC236}">
                <a16:creationId xmlns:a16="http://schemas.microsoft.com/office/drawing/2014/main" id="{78E2E136-3355-4DBE-9E72-0E5B4346CB46}"/>
              </a:ext>
            </a:extLst>
          </p:cNvPr>
          <p:cNvSpPr>
            <a:spLocks noGrp="1"/>
          </p:cNvSpPr>
          <p:nvPr>
            <p:ph idx="1"/>
          </p:nvPr>
        </p:nvSpPr>
        <p:spPr/>
        <p:txBody>
          <a:bodyPr/>
          <a:lstStyle/>
          <a:p>
            <a:r>
              <a:rPr lang="en-GB" dirty="0"/>
              <a:t>Use it</a:t>
            </a:r>
          </a:p>
          <a:p>
            <a:r>
              <a:rPr lang="en-GB" dirty="0"/>
              <a:t>It will save you</a:t>
            </a:r>
          </a:p>
          <a:p>
            <a:r>
              <a:rPr lang="en-GB" dirty="0"/>
              <a:t>It’s not just for “developers”</a:t>
            </a:r>
          </a:p>
          <a:p>
            <a:r>
              <a:rPr lang="en-GB" dirty="0"/>
              <a:t>Doesn’t have to be git</a:t>
            </a:r>
          </a:p>
          <a:p>
            <a:pPr marL="0" indent="0">
              <a:buNone/>
            </a:pPr>
            <a:endParaRPr lang="en-GB" dirty="0"/>
          </a:p>
        </p:txBody>
      </p:sp>
      <p:pic>
        <p:nvPicPr>
          <p:cNvPr id="5" name="Picture 4">
            <a:extLst>
              <a:ext uri="{FF2B5EF4-FFF2-40B4-BE49-F238E27FC236}">
                <a16:creationId xmlns:a16="http://schemas.microsoft.com/office/drawing/2014/main" id="{94856AB0-8641-4187-8D99-0AE3B75FE8AC}"/>
              </a:ext>
            </a:extLst>
          </p:cNvPr>
          <p:cNvPicPr>
            <a:picLocks noChangeAspect="1"/>
          </p:cNvPicPr>
          <p:nvPr/>
        </p:nvPicPr>
        <p:blipFill>
          <a:blip r:embed="rId3"/>
          <a:stretch>
            <a:fillRect/>
          </a:stretch>
        </p:blipFill>
        <p:spPr>
          <a:xfrm>
            <a:off x="8541176" y="2287290"/>
            <a:ext cx="3804107" cy="3632961"/>
          </a:xfrm>
          <a:prstGeom prst="rect">
            <a:avLst/>
          </a:prstGeom>
        </p:spPr>
      </p:pic>
      <p:sp>
        <p:nvSpPr>
          <p:cNvPr id="4" name="TextBox 3">
            <a:extLst>
              <a:ext uri="{FF2B5EF4-FFF2-40B4-BE49-F238E27FC236}">
                <a16:creationId xmlns:a16="http://schemas.microsoft.com/office/drawing/2014/main" id="{57F8560F-DA4B-4EA4-BAAC-854B678DA18A}"/>
              </a:ext>
            </a:extLst>
          </p:cNvPr>
          <p:cNvSpPr txBox="1"/>
          <p:nvPr/>
        </p:nvSpPr>
        <p:spPr>
          <a:xfrm>
            <a:off x="7353528" y="1825625"/>
            <a:ext cx="4938855" cy="461665"/>
          </a:xfrm>
          <a:prstGeom prst="rect">
            <a:avLst/>
          </a:prstGeom>
          <a:noFill/>
        </p:spPr>
        <p:txBody>
          <a:bodyPr wrap="square" rtlCol="0">
            <a:spAutoFit/>
          </a:bodyPr>
          <a:lstStyle/>
          <a:p>
            <a:pPr algn="ctr"/>
            <a:r>
              <a:rPr lang="en-GB" sz="2400" dirty="0"/>
              <a:t>You’re using Source Control</a:t>
            </a:r>
          </a:p>
        </p:txBody>
      </p:sp>
      <p:sp>
        <p:nvSpPr>
          <p:cNvPr id="6" name="TextBox 5">
            <a:extLst>
              <a:ext uri="{FF2B5EF4-FFF2-40B4-BE49-F238E27FC236}">
                <a16:creationId xmlns:a16="http://schemas.microsoft.com/office/drawing/2014/main" id="{6E30D4C0-60CA-4283-A7F7-F2BBBAEE1A51}"/>
              </a:ext>
            </a:extLst>
          </p:cNvPr>
          <p:cNvSpPr txBox="1"/>
          <p:nvPr/>
        </p:nvSpPr>
        <p:spPr>
          <a:xfrm>
            <a:off x="7406428" y="6176963"/>
            <a:ext cx="4938855" cy="461665"/>
          </a:xfrm>
          <a:prstGeom prst="rect">
            <a:avLst/>
          </a:prstGeom>
          <a:noFill/>
        </p:spPr>
        <p:txBody>
          <a:bodyPr wrap="square" rtlCol="0">
            <a:spAutoFit/>
          </a:bodyPr>
          <a:lstStyle/>
          <a:p>
            <a:pPr algn="ctr"/>
            <a:r>
              <a:rPr lang="en-GB" sz="2400" dirty="0"/>
              <a:t>But it’s script.v2.bak.ps1.old</a:t>
            </a:r>
          </a:p>
        </p:txBody>
      </p:sp>
      <p:sp>
        <p:nvSpPr>
          <p:cNvPr id="7" name="TextBox 6">
            <a:extLst>
              <a:ext uri="{FF2B5EF4-FFF2-40B4-BE49-F238E27FC236}">
                <a16:creationId xmlns:a16="http://schemas.microsoft.com/office/drawing/2014/main" id="{A382C761-074A-4208-B531-96DE30938834}"/>
              </a:ext>
            </a:extLst>
          </p:cNvPr>
          <p:cNvSpPr txBox="1"/>
          <p:nvPr/>
        </p:nvSpPr>
        <p:spPr>
          <a:xfrm>
            <a:off x="3700491" y="6362472"/>
            <a:ext cx="4791018"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1229323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endParaRPr lang="en-US"/>
          </a:p>
        </p:txBody>
      </p:sp>
      <p:sp>
        <p:nvSpPr>
          <p:cNvPr id="3" name="TextBox 2">
            <a:extLst>
              <a:ext uri="{FF2B5EF4-FFF2-40B4-BE49-F238E27FC236}">
                <a16:creationId xmlns:a16="http://schemas.microsoft.com/office/drawing/2014/main" id="{2F86B66B-2A14-4B0D-9821-C99B7634E22A}"/>
              </a:ext>
            </a:extLst>
          </p:cNvPr>
          <p:cNvSpPr txBox="1"/>
          <p:nvPr/>
        </p:nvSpPr>
        <p:spPr>
          <a:xfrm>
            <a:off x="3700491" y="6362472"/>
            <a:ext cx="4791018"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607867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2FB3D-2E32-4F4C-A088-84094CF9C80F}"/>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ADEB6974-5090-4F50-8E6F-C635803D7EA3}"/>
              </a:ext>
            </a:extLst>
          </p:cNvPr>
          <p:cNvSpPr>
            <a:spLocks noGrp="1"/>
          </p:cNvSpPr>
          <p:nvPr>
            <p:ph idx="1"/>
          </p:nvPr>
        </p:nvSpPr>
        <p:spPr/>
        <p:txBody>
          <a:bodyPr>
            <a:normAutofit/>
          </a:bodyPr>
          <a:lstStyle/>
          <a:p>
            <a:r>
              <a:rPr lang="en-GB" dirty="0"/>
              <a:t>Slides and demos on my </a:t>
            </a:r>
            <a:r>
              <a:rPr lang="en-GB" dirty="0" err="1"/>
              <a:t>github</a:t>
            </a:r>
            <a:r>
              <a:rPr lang="en-GB" dirty="0"/>
              <a:t>:</a:t>
            </a:r>
          </a:p>
          <a:p>
            <a:pPr lvl="1"/>
            <a:r>
              <a:rPr lang="en-GB" dirty="0"/>
              <a:t>Github.com/</a:t>
            </a:r>
            <a:r>
              <a:rPr lang="en-GB" dirty="0" err="1"/>
              <a:t>chrislgardner</a:t>
            </a:r>
            <a:endParaRPr lang="en-GB" dirty="0"/>
          </a:p>
          <a:p>
            <a:pPr lvl="1"/>
            <a:endParaRPr lang="en-GB" dirty="0"/>
          </a:p>
          <a:p>
            <a:r>
              <a:rPr lang="en-GB" dirty="0"/>
              <a:t>Twitter: @</a:t>
            </a:r>
            <a:r>
              <a:rPr lang="en-GB" dirty="0" err="1"/>
              <a:t>halbaradkenafin</a:t>
            </a:r>
            <a:endParaRPr lang="en-GB" dirty="0"/>
          </a:p>
          <a:p>
            <a:pPr marL="457200" lvl="1" indent="0">
              <a:buNone/>
            </a:pPr>
            <a:endParaRPr lang="en-GB" dirty="0"/>
          </a:p>
          <a:p>
            <a:pPr lvl="1"/>
            <a:endParaRPr lang="en-GB" dirty="0"/>
          </a:p>
          <a:p>
            <a:r>
              <a:rPr lang="en-GB" dirty="0"/>
              <a:t>Join the great PowerShell community on Slack/Discord</a:t>
            </a:r>
          </a:p>
          <a:p>
            <a:pPr lvl="1"/>
            <a:r>
              <a:rPr lang="en-GB" dirty="0"/>
              <a:t>j.mp/</a:t>
            </a:r>
            <a:r>
              <a:rPr lang="en-GB" dirty="0" err="1"/>
              <a:t>psslack</a:t>
            </a:r>
            <a:r>
              <a:rPr lang="en-GB" dirty="0"/>
              <a:t> (aka.ms/</a:t>
            </a:r>
            <a:r>
              <a:rPr lang="en-GB" dirty="0" err="1"/>
              <a:t>psslack</a:t>
            </a:r>
            <a:r>
              <a:rPr lang="en-GB" dirty="0"/>
              <a:t>)</a:t>
            </a:r>
          </a:p>
          <a:p>
            <a:pPr lvl="1"/>
            <a:r>
              <a:rPr lang="en-GB" dirty="0"/>
              <a:t>j.mp/</a:t>
            </a:r>
            <a:r>
              <a:rPr lang="en-GB" dirty="0" err="1"/>
              <a:t>psdiscord</a:t>
            </a:r>
            <a:r>
              <a:rPr lang="en-GB" dirty="0"/>
              <a:t> (aka.ms/</a:t>
            </a:r>
            <a:r>
              <a:rPr lang="en-GB" dirty="0" err="1"/>
              <a:t>psdiscord</a:t>
            </a:r>
            <a:r>
              <a:rPr lang="en-GB" dirty="0"/>
              <a:t>)</a:t>
            </a:r>
          </a:p>
          <a:p>
            <a:endParaRPr lang="en-GB" dirty="0"/>
          </a:p>
        </p:txBody>
      </p:sp>
      <p:sp>
        <p:nvSpPr>
          <p:cNvPr id="4" name="TextBox 3">
            <a:extLst>
              <a:ext uri="{FF2B5EF4-FFF2-40B4-BE49-F238E27FC236}">
                <a16:creationId xmlns:a16="http://schemas.microsoft.com/office/drawing/2014/main" id="{2137B5C7-75ED-4B79-9140-E82BDD161272}"/>
              </a:ext>
            </a:extLst>
          </p:cNvPr>
          <p:cNvSpPr txBox="1"/>
          <p:nvPr/>
        </p:nvSpPr>
        <p:spPr>
          <a:xfrm>
            <a:off x="3700491" y="6362472"/>
            <a:ext cx="4791018"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2015255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F38032-5766-4B9E-B225-6DC217337D65}"/>
              </a:ext>
            </a:extLst>
          </p:cNvPr>
          <p:cNvSpPr txBox="1"/>
          <p:nvPr/>
        </p:nvSpPr>
        <p:spPr>
          <a:xfrm>
            <a:off x="3700491" y="6362472"/>
            <a:ext cx="4791018"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102638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104</TotalTime>
  <Words>346</Words>
  <Application>Microsoft Office PowerPoint</Application>
  <PresentationFormat>Widescreen</PresentationFormat>
  <Paragraphs>37</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 Don't do that, do this instead</vt:lpstr>
      <vt:lpstr>Three key goals:</vt:lpstr>
      <vt:lpstr>Source Control</vt:lpstr>
      <vt:lpstr>PowerPoint Presentation</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Donald Jones</dc:creator>
  <cp:lastModifiedBy>Chris Gardner</cp:lastModifiedBy>
  <cp:revision>11</cp:revision>
  <dcterms:created xsi:type="dcterms:W3CDTF">2017-08-03T21:53:21Z</dcterms:created>
  <dcterms:modified xsi:type="dcterms:W3CDTF">2019-05-01T17:12:47Z</dcterms:modified>
</cp:coreProperties>
</file>