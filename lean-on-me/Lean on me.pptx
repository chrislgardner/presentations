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62" r:id="rId4"/>
    <p:sldId id="263" r:id="rId5"/>
    <p:sldId id="257" r:id="rId6"/>
    <p:sldId id="264" r:id="rId7"/>
    <p:sldId id="258" r:id="rId8"/>
    <p:sldId id="265" r:id="rId9"/>
    <p:sldId id="261" r:id="rId10"/>
    <p:sldId id="259"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63495" autoAdjust="0"/>
  </p:normalViewPr>
  <p:slideViewPr>
    <p:cSldViewPr snapToGrid="0">
      <p:cViewPr varScale="1">
        <p:scale>
          <a:sx n="67" d="100"/>
          <a:sy n="67" d="100"/>
        </p:scale>
        <p:origin x="666"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2551C-E125-462F-8842-2149E658536A}" type="datetimeFigureOut">
              <a:rPr lang="en-GB" smtClean="0"/>
              <a:t>07/05/2019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B1F1C-CD78-43C3-8BF1-558E51F83C81}" type="slidenum">
              <a:rPr lang="en-GB" smtClean="0"/>
              <a:t>‹#›</a:t>
            </a:fld>
            <a:endParaRPr lang="en-GB"/>
          </a:p>
        </p:txBody>
      </p:sp>
    </p:spTree>
    <p:extLst>
      <p:ext uri="{BB962C8B-B14F-4D97-AF65-F5344CB8AC3E}">
        <p14:creationId xmlns:p14="http://schemas.microsoft.com/office/powerpoint/2010/main" val="1317798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emver.org/"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5B1F1C-CD78-43C3-8BF1-558E51F83C81}" type="slidenum">
              <a:rPr lang="en-GB" smtClean="0"/>
              <a:t>1</a:t>
            </a:fld>
            <a:endParaRPr lang="en-GB"/>
          </a:p>
        </p:txBody>
      </p:sp>
    </p:spTree>
    <p:extLst>
      <p:ext uri="{BB962C8B-B14F-4D97-AF65-F5344CB8AC3E}">
        <p14:creationId xmlns:p14="http://schemas.microsoft.com/office/powerpoint/2010/main" val="200251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community seems to love reinventing the wheel, many people won’t look at </a:t>
            </a:r>
            <a:r>
              <a:rPr lang="en-GB" dirty="0" err="1"/>
              <a:t>github</a:t>
            </a:r>
            <a:r>
              <a:rPr lang="en-GB" dirty="0"/>
              <a:t> or PowerShell Gallery when trying to develop a new solution to a problem and will instead write something themselves. We see this with the various modules we’ve now got for writing HTML or Word docs, we’ve had it in the past with interacting with Excel (we’ve settled on </a:t>
            </a:r>
            <a:r>
              <a:rPr lang="en-GB" dirty="0" err="1"/>
              <a:t>ImportExcel</a:t>
            </a:r>
            <a:r>
              <a:rPr lang="en-GB" dirty="0"/>
              <a:t> thankfully). There’s a lot more examples out there too. A better solution for the community as a whole would be for </a:t>
            </a:r>
            <a:r>
              <a:rPr lang="en-GB" dirty="0" err="1"/>
              <a:t>github</a:t>
            </a:r>
            <a:r>
              <a:rPr lang="en-GB" dirty="0"/>
              <a:t> and PowerShell gallery to be our first place to search for modules/code to do x thing and then if it doesn’t exist to give it a try, if it does exist then fork it and try to improve upon it to add the functionality that is needed.</a:t>
            </a:r>
          </a:p>
          <a:p>
            <a:endParaRPr lang="en-GB" dirty="0"/>
          </a:p>
          <a:p>
            <a:r>
              <a:rPr lang="en-GB" dirty="0"/>
              <a:t>Many companies require code reviews on external code and for things to go through security audits, being able to lock in a specific version and prove your code is only using this version is very important to the continued use of that code in secured environments. We’ll look at ways to handle this later.</a:t>
            </a:r>
          </a:p>
          <a:p>
            <a:endParaRPr lang="en-GB" dirty="0"/>
          </a:p>
          <a:p>
            <a:r>
              <a:rPr lang="en-GB" dirty="0"/>
              <a:t>When testing your code (everyone does test their code, right? Preferably with Pester or some other automated tooling) it’s useful to know that the 3</a:t>
            </a:r>
            <a:r>
              <a:rPr lang="en-GB" baseline="30000" dirty="0"/>
              <a:t>rd</a:t>
            </a:r>
            <a:r>
              <a:rPr lang="en-GB" dirty="0"/>
              <a:t> party code you’re interacting with hasn’t changed since the last time you ran those tests. Locking in a version means you can rely more on that being the case.</a:t>
            </a:r>
          </a:p>
        </p:txBody>
      </p:sp>
      <p:sp>
        <p:nvSpPr>
          <p:cNvPr id="4" name="Slide Number Placeholder 3"/>
          <p:cNvSpPr>
            <a:spLocks noGrp="1"/>
          </p:cNvSpPr>
          <p:nvPr>
            <p:ph type="sldNum" sz="quarter" idx="5"/>
          </p:nvPr>
        </p:nvSpPr>
        <p:spPr/>
        <p:txBody>
          <a:bodyPr/>
          <a:lstStyle/>
          <a:p>
            <a:fld id="{0B5B1F1C-CD78-43C3-8BF1-558E51F83C81}" type="slidenum">
              <a:rPr lang="en-GB" smtClean="0"/>
              <a:t>3</a:t>
            </a:fld>
            <a:endParaRPr lang="en-GB"/>
          </a:p>
        </p:txBody>
      </p:sp>
    </p:spTree>
    <p:extLst>
      <p:ext uri="{BB962C8B-B14F-4D97-AF65-F5344CB8AC3E}">
        <p14:creationId xmlns:p14="http://schemas.microsoft.com/office/powerpoint/2010/main" val="1184618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https://semver.org/</a:t>
            </a:r>
            <a:endParaRPr lang="en-GB" dirty="0"/>
          </a:p>
          <a:p>
            <a:endParaRPr lang="en-GB" dirty="0"/>
          </a:p>
          <a:p>
            <a:r>
              <a:rPr lang="en-GB" sz="1200" b="0" i="0" kern="1200" dirty="0">
                <a:solidFill>
                  <a:schemeClr val="tx1"/>
                </a:solidFill>
                <a:effectLst/>
                <a:latin typeface="+mn-lt"/>
                <a:ea typeface="+mn-ea"/>
                <a:cs typeface="+mn-cs"/>
              </a:rPr>
              <a:t>Given a version number MAJOR.MINOR.PATCH, increment the:</a:t>
            </a:r>
          </a:p>
          <a:p>
            <a:r>
              <a:rPr lang="en-GB" sz="1200" b="0" i="0" kern="1200" dirty="0">
                <a:solidFill>
                  <a:schemeClr val="tx1"/>
                </a:solidFill>
                <a:effectLst/>
                <a:latin typeface="+mn-lt"/>
                <a:ea typeface="+mn-ea"/>
                <a:cs typeface="+mn-cs"/>
              </a:rPr>
              <a:t>MAJOR version when you make incompatible API changes,</a:t>
            </a:r>
          </a:p>
          <a:p>
            <a:r>
              <a:rPr lang="en-GB" sz="1200" b="0" i="0" kern="1200" dirty="0">
                <a:solidFill>
                  <a:schemeClr val="tx1"/>
                </a:solidFill>
                <a:effectLst/>
                <a:latin typeface="+mn-lt"/>
                <a:ea typeface="+mn-ea"/>
                <a:cs typeface="+mn-cs"/>
              </a:rPr>
              <a:t>MINOR version when you add functionality in a backwards-compatible manner, and</a:t>
            </a:r>
          </a:p>
          <a:p>
            <a:r>
              <a:rPr lang="en-GB" sz="1200" b="0" i="0" kern="1200" dirty="0">
                <a:solidFill>
                  <a:schemeClr val="tx1"/>
                </a:solidFill>
                <a:effectLst/>
                <a:latin typeface="+mn-lt"/>
                <a:ea typeface="+mn-ea"/>
                <a:cs typeface="+mn-cs"/>
              </a:rPr>
              <a:t>PATCH version when you make backwards-compatible bug fixes.</a:t>
            </a:r>
          </a:p>
          <a:p>
            <a:r>
              <a:rPr lang="en-GB" sz="1200" b="0" i="0" kern="1200" dirty="0">
                <a:solidFill>
                  <a:schemeClr val="tx1"/>
                </a:solidFill>
                <a:effectLst/>
                <a:latin typeface="+mn-lt"/>
                <a:ea typeface="+mn-ea"/>
                <a:cs typeface="+mn-cs"/>
              </a:rPr>
              <a:t>Additional labels for pre-release and build metadata are available as extensions to the MAJOR.MINOR.PATCH format.</a:t>
            </a:r>
          </a:p>
          <a:p>
            <a:endParaRPr lang="en-GB" dirty="0"/>
          </a:p>
          <a:p>
            <a:endParaRPr lang="en-GB" dirty="0"/>
          </a:p>
          <a:p>
            <a:r>
              <a:rPr lang="en-GB" dirty="0" err="1"/>
              <a:t>PowerShellGet</a:t>
            </a:r>
            <a:r>
              <a:rPr lang="en-GB" dirty="0"/>
              <a:t> will update a module to the latest version regardless of version numbers unless you explicitly tell it a maximum version number or a required version number.</a:t>
            </a:r>
          </a:p>
          <a:p>
            <a:endParaRPr lang="en-GB" dirty="0"/>
          </a:p>
          <a:p>
            <a:r>
              <a:rPr lang="en-GB" dirty="0"/>
              <a:t>If you make breaking changes to how users interact with the module the make sure to document them and make the transition as smooth as possible. Want to rename a parameter? Add an alias for the old name if possible. Want to rename a function? Add an alias. </a:t>
            </a:r>
          </a:p>
        </p:txBody>
      </p:sp>
      <p:sp>
        <p:nvSpPr>
          <p:cNvPr id="4" name="Slide Number Placeholder 3"/>
          <p:cNvSpPr>
            <a:spLocks noGrp="1"/>
          </p:cNvSpPr>
          <p:nvPr>
            <p:ph type="sldNum" sz="quarter" idx="5"/>
          </p:nvPr>
        </p:nvSpPr>
        <p:spPr/>
        <p:txBody>
          <a:bodyPr/>
          <a:lstStyle/>
          <a:p>
            <a:fld id="{0B5B1F1C-CD78-43C3-8BF1-558E51F83C81}" type="slidenum">
              <a:rPr lang="en-GB" smtClean="0"/>
              <a:t>4</a:t>
            </a:fld>
            <a:endParaRPr lang="en-GB"/>
          </a:p>
        </p:txBody>
      </p:sp>
    </p:spTree>
    <p:extLst>
      <p:ext uri="{BB962C8B-B14F-4D97-AF65-F5344CB8AC3E}">
        <p14:creationId xmlns:p14="http://schemas.microsoft.com/office/powerpoint/2010/main" val="207755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#Requires -Version &lt;N&gt;[.&lt;n&gt;]</a:t>
            </a:r>
          </a:p>
          <a:p>
            <a:r>
              <a:rPr lang="en-GB" dirty="0"/>
              <a:t>#Requires -</a:t>
            </a:r>
            <a:r>
              <a:rPr lang="en-GB" dirty="0" err="1"/>
              <a:t>PSSnapin</a:t>
            </a:r>
            <a:r>
              <a:rPr lang="en-GB" dirty="0"/>
              <a:t> &lt;</a:t>
            </a:r>
            <a:r>
              <a:rPr lang="en-GB" dirty="0" err="1"/>
              <a:t>PSSnapin</a:t>
            </a:r>
            <a:r>
              <a:rPr lang="en-GB" dirty="0"/>
              <a:t>-Name&gt; [-Version &lt;N&gt;[.&lt;n&gt;]]</a:t>
            </a:r>
          </a:p>
          <a:p>
            <a:r>
              <a:rPr lang="en-GB" dirty="0"/>
              <a:t>#Requires -Modules { &lt;Module-Name&gt; | &lt;</a:t>
            </a:r>
            <a:r>
              <a:rPr lang="en-GB" dirty="0" err="1"/>
              <a:t>Hashtable</a:t>
            </a:r>
            <a:r>
              <a:rPr lang="en-GB" dirty="0"/>
              <a:t>&gt; }</a:t>
            </a:r>
          </a:p>
          <a:p>
            <a:r>
              <a:rPr lang="en-GB" dirty="0"/>
              <a:t>#Requires -</a:t>
            </a:r>
            <a:r>
              <a:rPr lang="en-GB" dirty="0" err="1"/>
              <a:t>ShellId</a:t>
            </a:r>
            <a:r>
              <a:rPr lang="en-GB" dirty="0"/>
              <a:t> &lt;</a:t>
            </a:r>
            <a:r>
              <a:rPr lang="en-GB" dirty="0" err="1"/>
              <a:t>ShellId</a:t>
            </a:r>
            <a:r>
              <a:rPr lang="en-GB" dirty="0"/>
              <a:t>&gt;</a:t>
            </a:r>
          </a:p>
          <a:p>
            <a:r>
              <a:rPr lang="en-GB" dirty="0"/>
              <a:t>#Requires –</a:t>
            </a:r>
            <a:r>
              <a:rPr lang="en-GB" dirty="0" err="1"/>
              <a:t>RunAsAdministrator</a:t>
            </a:r>
            <a:endParaRPr lang="en-GB" dirty="0"/>
          </a:p>
          <a:p>
            <a:endParaRPr lang="en-GB" dirty="0"/>
          </a:p>
          <a:p>
            <a:r>
              <a:rPr lang="en-GB" dirty="0"/>
              <a:t>Should really only be used for scripts and not modules unless specifying the </a:t>
            </a:r>
            <a:r>
              <a:rPr lang="en-GB" dirty="0" err="1"/>
              <a:t>RunAsAdministrator</a:t>
            </a:r>
            <a:r>
              <a:rPr lang="en-GB" dirty="0"/>
              <a:t> requirement.</a:t>
            </a:r>
          </a:p>
        </p:txBody>
      </p:sp>
      <p:sp>
        <p:nvSpPr>
          <p:cNvPr id="4" name="Slide Number Placeholder 3"/>
          <p:cNvSpPr>
            <a:spLocks noGrp="1"/>
          </p:cNvSpPr>
          <p:nvPr>
            <p:ph type="sldNum" sz="quarter" idx="5"/>
          </p:nvPr>
        </p:nvSpPr>
        <p:spPr/>
        <p:txBody>
          <a:bodyPr/>
          <a:lstStyle/>
          <a:p>
            <a:fld id="{0B5B1F1C-CD78-43C3-8BF1-558E51F83C81}" type="slidenum">
              <a:rPr lang="en-GB" smtClean="0"/>
              <a:t>5</a:t>
            </a:fld>
            <a:endParaRPr lang="en-GB"/>
          </a:p>
        </p:txBody>
      </p:sp>
    </p:spTree>
    <p:extLst>
      <p:ext uri="{BB962C8B-B14F-4D97-AF65-F5344CB8AC3E}">
        <p14:creationId xmlns:p14="http://schemas.microsoft.com/office/powerpoint/2010/main" val="106085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D58D-CB27-46B6-ACBE-41B09268EF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E9B7782-1234-401A-BDB5-0EAF811DD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7A0E840-65DB-47A5-A4ED-7BDDC82B5918}"/>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10B7BF32-26B0-4E12-B097-9F19964A35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17F36-5177-4A7F-9E51-D0D086826A57}"/>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1930446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CE6C-47B7-47AB-8DCE-0044BD1ACE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77CADC-B3B5-4362-93AE-4614CA8C05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1CAB7F-965F-4AF9-A898-CFAF916AE198}"/>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51BE7E90-E094-443C-8DFC-4F43B75D7B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16DFDF-58CC-412C-91C2-DE56A567AF9C}"/>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4207418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70268-650D-48F4-B859-E9CE14C7D2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B58F208-5374-4C6C-89EE-44239D59F5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505B4D-733F-48D0-A95F-1F270137BB2C}"/>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5027E3A1-0DAA-4FA1-A2DB-39ABC96E1F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6FF73C-8EC6-42B4-91F6-77DAF6DD3F79}"/>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34398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5014-2495-400F-B4C3-41F4E62C741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F0B72B9-95B3-4780-97AA-55738CCF99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08B9BED-AF56-47AD-B902-C213A2D901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6719A61-1BA8-45F8-9A8F-D1D636794518}"/>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6" name="Footer Placeholder 5">
            <a:extLst>
              <a:ext uri="{FF2B5EF4-FFF2-40B4-BE49-F238E27FC236}">
                <a16:creationId xmlns:a16="http://schemas.microsoft.com/office/drawing/2014/main" id="{D88120A9-2EE0-46F5-A0C0-EB7E826D7F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F52E746-3AA7-4C71-8FB3-341DAC4EB2A3}"/>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2712431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8E5E-58CC-4016-BC87-B1B523DE18C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4BF7B95-8834-4901-9A50-0076E1C272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4E1D83-EA4E-4835-9192-2677F83EA3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F05A268-9906-4EE9-8297-444552AE5F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41A1D9-760B-4A47-B298-33BD501DE0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55A470B-E104-4091-B375-65AB77FE7ACC}"/>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8" name="Footer Placeholder 7">
            <a:extLst>
              <a:ext uri="{FF2B5EF4-FFF2-40B4-BE49-F238E27FC236}">
                <a16:creationId xmlns:a16="http://schemas.microsoft.com/office/drawing/2014/main" id="{499A4757-2395-49E9-95B7-C80C9BE119F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9A1D7B1-F183-479F-BCBB-BE25472C4296}"/>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1745545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47D7-D651-4E44-875E-BA0A02768BA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F86E9ED-8ED1-4280-9EAA-5A5F13105780}"/>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4" name="Footer Placeholder 3">
            <a:extLst>
              <a:ext uri="{FF2B5EF4-FFF2-40B4-BE49-F238E27FC236}">
                <a16:creationId xmlns:a16="http://schemas.microsoft.com/office/drawing/2014/main" id="{9CA5AD86-E407-41B5-913D-0092AA85845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3AF2280-81EF-400F-8D35-2FBC962543EA}"/>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522147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6C575-EEA7-44CC-A232-4740DE5B644C}"/>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3" name="Footer Placeholder 2">
            <a:extLst>
              <a:ext uri="{FF2B5EF4-FFF2-40B4-BE49-F238E27FC236}">
                <a16:creationId xmlns:a16="http://schemas.microsoft.com/office/drawing/2014/main" id="{4513089C-9A88-4DA7-85DF-4DAA3994B3C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39D258B-E68C-43DC-9937-9C2E9F2BEFBC}"/>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2046898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DF1B5-F99B-4D3E-B250-168581142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152E694-6DC2-46F8-99D5-043563F36D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FD447F-4CFC-4E69-BD89-6E11166CA9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BB55A1-D428-40C5-9570-5A50C41A9AB6}"/>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6" name="Footer Placeholder 5">
            <a:extLst>
              <a:ext uri="{FF2B5EF4-FFF2-40B4-BE49-F238E27FC236}">
                <a16:creationId xmlns:a16="http://schemas.microsoft.com/office/drawing/2014/main" id="{E2D581A1-2100-4B06-8DD4-FEFF0803AEA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548E1E9-03BD-47AC-8610-36B24D82AA1B}"/>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3523731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5A58A-AC77-452E-A1C1-088D875E27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AE06911-8939-4F4A-A283-03C719CEE9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6AEC8C7-4D2E-44B7-A12A-E43818A81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AC638-BF1B-4C75-8869-27A3E8BC692B}"/>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6" name="Footer Placeholder 5">
            <a:extLst>
              <a:ext uri="{FF2B5EF4-FFF2-40B4-BE49-F238E27FC236}">
                <a16:creationId xmlns:a16="http://schemas.microsoft.com/office/drawing/2014/main" id="{69703968-1355-43EF-8D52-287FC39ADE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8CD969-5FD8-4FFE-8D08-EA248B137F21}"/>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746560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6C46-B30B-4BBE-9C89-7B2D53E9612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41D70F5-AEA1-434E-AF00-018F14F1C0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EF2232-365F-43B7-AA38-4381F225CF48}"/>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4E6DF220-D718-47F7-B616-4789E8850D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D17996-B0CE-4FA1-8FEB-B1F6A6E15ED0}"/>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4096252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4F3951-155C-4363-8A30-0E78296392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D26C14-31EC-48FE-BFBE-6CC230AE2D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B4D8A1-A889-4860-9FCB-414EE9DE38BC}"/>
              </a:ext>
            </a:extLst>
          </p:cNvPr>
          <p:cNvSpPr>
            <a:spLocks noGrp="1"/>
          </p:cNvSpPr>
          <p:nvPr>
            <p:ph type="dt" sz="half" idx="10"/>
          </p:nvPr>
        </p:nvSpPr>
        <p:spPr/>
        <p:txBody>
          <a:body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EB306E32-D5F3-400B-8300-B1CFD6473C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BE6729-84E0-46F3-8D98-E2A9B28ECD29}"/>
              </a:ext>
            </a:extLst>
          </p:cNvPr>
          <p:cNvSpPr>
            <a:spLocks noGrp="1"/>
          </p:cNvSpPr>
          <p:nvPr>
            <p:ph type="sldNum" sz="quarter" idx="12"/>
          </p:nvPr>
        </p:nvSpPr>
        <p:spPr/>
        <p:txBody>
          <a:bodyPr/>
          <a:lstStyle/>
          <a:p>
            <a:fld id="{683F25BA-1875-460B-BA77-63EED1250766}" type="slidenum">
              <a:rPr lang="en-GB" smtClean="0"/>
              <a:t>‹#›</a:t>
            </a:fld>
            <a:endParaRPr lang="en-GB"/>
          </a:p>
        </p:txBody>
      </p:sp>
    </p:spTree>
    <p:extLst>
      <p:ext uri="{BB962C8B-B14F-4D97-AF65-F5344CB8AC3E}">
        <p14:creationId xmlns:p14="http://schemas.microsoft.com/office/powerpoint/2010/main" val="1017111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1BC36A-958B-4CAE-9416-F23E8FB82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65C735-DD64-4E20-A205-37B748C719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0F56F6-B50E-4972-A43A-FF1E75603F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B366DA-0315-4031-8173-03CBA2F90823}" type="datetimeFigureOut">
              <a:rPr lang="en-GB" smtClean="0"/>
              <a:t>07/05/2019</a:t>
            </a:fld>
            <a:endParaRPr lang="en-GB"/>
          </a:p>
        </p:txBody>
      </p:sp>
      <p:sp>
        <p:nvSpPr>
          <p:cNvPr id="5" name="Footer Placeholder 4">
            <a:extLst>
              <a:ext uri="{FF2B5EF4-FFF2-40B4-BE49-F238E27FC236}">
                <a16:creationId xmlns:a16="http://schemas.microsoft.com/office/drawing/2014/main" id="{D7F049C4-4BED-4450-8303-4B9D0CC3B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C8AC843-77F4-4297-80C8-6912F88B67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3F25BA-1875-460B-BA77-63EED1250766}" type="slidenum">
              <a:rPr lang="en-GB" smtClean="0"/>
              <a:t>‹#›</a:t>
            </a:fld>
            <a:endParaRPr lang="en-GB"/>
          </a:p>
        </p:txBody>
      </p:sp>
    </p:spTree>
    <p:extLst>
      <p:ext uri="{BB962C8B-B14F-4D97-AF65-F5344CB8AC3E}">
        <p14:creationId xmlns:p14="http://schemas.microsoft.com/office/powerpoint/2010/main" val="293127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70DB5-CF4F-415B-B950-8B84F6B0E21A}"/>
              </a:ext>
            </a:extLst>
          </p:cNvPr>
          <p:cNvSpPr>
            <a:spLocks noGrp="1"/>
          </p:cNvSpPr>
          <p:nvPr>
            <p:ph type="ctrTitle"/>
          </p:nvPr>
        </p:nvSpPr>
        <p:spPr/>
        <p:txBody>
          <a:bodyPr/>
          <a:lstStyle/>
          <a:p>
            <a:r>
              <a:rPr lang="en-GB" dirty="0"/>
              <a:t>Lean on me</a:t>
            </a:r>
          </a:p>
        </p:txBody>
      </p:sp>
      <p:sp>
        <p:nvSpPr>
          <p:cNvPr id="3" name="Subtitle 2">
            <a:extLst>
              <a:ext uri="{FF2B5EF4-FFF2-40B4-BE49-F238E27FC236}">
                <a16:creationId xmlns:a16="http://schemas.microsoft.com/office/drawing/2014/main" id="{DAF27497-A2A1-478D-AA03-4EB68FAE9B90}"/>
              </a:ext>
            </a:extLst>
          </p:cNvPr>
          <p:cNvSpPr>
            <a:spLocks noGrp="1"/>
          </p:cNvSpPr>
          <p:nvPr>
            <p:ph type="subTitle" idx="1"/>
          </p:nvPr>
        </p:nvSpPr>
        <p:spPr/>
        <p:txBody>
          <a:bodyPr/>
          <a:lstStyle/>
          <a:p>
            <a:r>
              <a:rPr lang="en-GB" dirty="0"/>
              <a:t>Dependency management in PowerShell</a:t>
            </a:r>
          </a:p>
        </p:txBody>
      </p:sp>
      <p:sp>
        <p:nvSpPr>
          <p:cNvPr id="4" name="TextBox 3">
            <a:extLst>
              <a:ext uri="{FF2B5EF4-FFF2-40B4-BE49-F238E27FC236}">
                <a16:creationId xmlns:a16="http://schemas.microsoft.com/office/drawing/2014/main" id="{C3CA4610-EBA5-47A0-AF7C-EE7EEA87589D}"/>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2557411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3115A-46AE-4416-9B28-A393DFED8A34}"/>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79818630-B5BC-4005-8DC1-F062C48E0731}"/>
              </a:ext>
            </a:extLst>
          </p:cNvPr>
          <p:cNvSpPr>
            <a:spLocks noGrp="1"/>
          </p:cNvSpPr>
          <p:nvPr>
            <p:ph idx="1"/>
          </p:nvPr>
        </p:nvSpPr>
        <p:spPr/>
        <p:txBody>
          <a:bodyPr/>
          <a:lstStyle/>
          <a:p>
            <a:r>
              <a:rPr lang="en-GB" dirty="0"/>
              <a:t>Why</a:t>
            </a:r>
          </a:p>
          <a:p>
            <a:r>
              <a:rPr lang="en-GB" dirty="0"/>
              <a:t>#Requires</a:t>
            </a:r>
          </a:p>
          <a:p>
            <a:r>
              <a:rPr lang="en-GB" dirty="0" err="1"/>
              <a:t>RequiredModules</a:t>
            </a:r>
            <a:endParaRPr lang="en-GB" dirty="0"/>
          </a:p>
          <a:p>
            <a:r>
              <a:rPr lang="en-GB" dirty="0"/>
              <a:t>Dependency Types</a:t>
            </a:r>
          </a:p>
          <a:p>
            <a:r>
              <a:rPr lang="en-GB" dirty="0" err="1"/>
              <a:t>PSDepend</a:t>
            </a:r>
            <a:endParaRPr lang="en-GB" dirty="0"/>
          </a:p>
          <a:p>
            <a:endParaRPr lang="en-GB" dirty="0"/>
          </a:p>
        </p:txBody>
      </p:sp>
      <p:sp>
        <p:nvSpPr>
          <p:cNvPr id="4" name="TextBox 3">
            <a:extLst>
              <a:ext uri="{FF2B5EF4-FFF2-40B4-BE49-F238E27FC236}">
                <a16:creationId xmlns:a16="http://schemas.microsoft.com/office/drawing/2014/main" id="{5E23465F-D4DA-4BFD-83CA-6566242DEB6F}"/>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326892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8A34B-8843-4323-B041-32DD9396F3A2}"/>
              </a:ext>
            </a:extLst>
          </p:cNvPr>
          <p:cNvSpPr>
            <a:spLocks noGrp="1"/>
          </p:cNvSpPr>
          <p:nvPr>
            <p:ph type="title"/>
          </p:nvPr>
        </p:nvSpPr>
        <p:spPr/>
        <p:txBody>
          <a:bodyPr/>
          <a:lstStyle/>
          <a:p>
            <a:r>
              <a:rPr lang="en-GB" dirty="0"/>
              <a:t>Why should I care?</a:t>
            </a:r>
          </a:p>
        </p:txBody>
      </p:sp>
      <p:sp>
        <p:nvSpPr>
          <p:cNvPr id="3" name="Content Placeholder 2">
            <a:extLst>
              <a:ext uri="{FF2B5EF4-FFF2-40B4-BE49-F238E27FC236}">
                <a16:creationId xmlns:a16="http://schemas.microsoft.com/office/drawing/2014/main" id="{371B61D0-A289-4D2A-8DAE-4EDE531F3207}"/>
              </a:ext>
            </a:extLst>
          </p:cNvPr>
          <p:cNvSpPr>
            <a:spLocks noGrp="1"/>
          </p:cNvSpPr>
          <p:nvPr>
            <p:ph idx="1"/>
          </p:nvPr>
        </p:nvSpPr>
        <p:spPr/>
        <p:txBody>
          <a:bodyPr/>
          <a:lstStyle/>
          <a:p>
            <a:r>
              <a:rPr lang="en-GB" dirty="0"/>
              <a:t>Don’t reinvent the wheel</a:t>
            </a:r>
          </a:p>
          <a:p>
            <a:endParaRPr lang="en-GB" dirty="0"/>
          </a:p>
          <a:p>
            <a:r>
              <a:rPr lang="en-GB" dirty="0"/>
              <a:t>Security and code reviews</a:t>
            </a:r>
          </a:p>
          <a:p>
            <a:endParaRPr lang="en-GB" dirty="0"/>
          </a:p>
          <a:p>
            <a:r>
              <a:rPr lang="en-GB" dirty="0"/>
              <a:t>Easier testing</a:t>
            </a:r>
          </a:p>
        </p:txBody>
      </p:sp>
      <p:sp>
        <p:nvSpPr>
          <p:cNvPr id="4" name="TextBox 3">
            <a:extLst>
              <a:ext uri="{FF2B5EF4-FFF2-40B4-BE49-F238E27FC236}">
                <a16:creationId xmlns:a16="http://schemas.microsoft.com/office/drawing/2014/main" id="{B14F0A10-B521-4978-8508-11048A3C3391}"/>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842564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27288-1A3E-4C4E-AA3B-01BA63D944FB}"/>
              </a:ext>
            </a:extLst>
          </p:cNvPr>
          <p:cNvSpPr>
            <a:spLocks noGrp="1"/>
          </p:cNvSpPr>
          <p:nvPr>
            <p:ph type="title"/>
          </p:nvPr>
        </p:nvSpPr>
        <p:spPr/>
        <p:txBody>
          <a:bodyPr/>
          <a:lstStyle/>
          <a:p>
            <a:r>
              <a:rPr lang="en-GB" dirty="0"/>
              <a:t>Versioning – a side note</a:t>
            </a:r>
          </a:p>
        </p:txBody>
      </p:sp>
      <p:sp>
        <p:nvSpPr>
          <p:cNvPr id="3" name="Content Placeholder 2">
            <a:extLst>
              <a:ext uri="{FF2B5EF4-FFF2-40B4-BE49-F238E27FC236}">
                <a16:creationId xmlns:a16="http://schemas.microsoft.com/office/drawing/2014/main" id="{60A8EE1D-5764-4CF6-AE53-0371A9D18050}"/>
              </a:ext>
            </a:extLst>
          </p:cNvPr>
          <p:cNvSpPr>
            <a:spLocks noGrp="1"/>
          </p:cNvSpPr>
          <p:nvPr>
            <p:ph idx="1"/>
          </p:nvPr>
        </p:nvSpPr>
        <p:spPr/>
        <p:txBody>
          <a:bodyPr/>
          <a:lstStyle/>
          <a:p>
            <a:r>
              <a:rPr lang="en-GB" dirty="0"/>
              <a:t>Semantic Versioning (</a:t>
            </a:r>
            <a:r>
              <a:rPr lang="en-GB" dirty="0" err="1"/>
              <a:t>Major.Minor.Patch</a:t>
            </a:r>
            <a:r>
              <a:rPr lang="en-GB" dirty="0"/>
              <a:t>) is becoming the industry standard</a:t>
            </a:r>
          </a:p>
          <a:p>
            <a:endParaRPr lang="en-GB" dirty="0"/>
          </a:p>
          <a:p>
            <a:r>
              <a:rPr lang="en-GB" dirty="0"/>
              <a:t>Don’t make breaking changes to your module without updating the major version number!</a:t>
            </a:r>
          </a:p>
          <a:p>
            <a:endParaRPr lang="en-GB" dirty="0"/>
          </a:p>
          <a:p>
            <a:endParaRPr lang="en-GB" dirty="0"/>
          </a:p>
          <a:p>
            <a:pPr marL="0" indent="0">
              <a:buNone/>
            </a:pPr>
            <a:endParaRPr lang="en-GB" dirty="0"/>
          </a:p>
        </p:txBody>
      </p:sp>
      <p:sp>
        <p:nvSpPr>
          <p:cNvPr id="4" name="TextBox 3">
            <a:extLst>
              <a:ext uri="{FF2B5EF4-FFF2-40B4-BE49-F238E27FC236}">
                <a16:creationId xmlns:a16="http://schemas.microsoft.com/office/drawing/2014/main" id="{AE88F241-B580-4086-B790-AC4B0ED70A37}"/>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2376666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A6A92-4528-473D-8018-CF2559DE5245}"/>
              </a:ext>
            </a:extLst>
          </p:cNvPr>
          <p:cNvSpPr>
            <a:spLocks noGrp="1"/>
          </p:cNvSpPr>
          <p:nvPr>
            <p:ph type="title"/>
          </p:nvPr>
        </p:nvSpPr>
        <p:spPr/>
        <p:txBody>
          <a:bodyPr/>
          <a:lstStyle/>
          <a:p>
            <a:r>
              <a:rPr lang="en-GB" dirty="0"/>
              <a:t>#Requires</a:t>
            </a:r>
          </a:p>
        </p:txBody>
      </p:sp>
      <p:sp>
        <p:nvSpPr>
          <p:cNvPr id="3" name="Content Placeholder 2">
            <a:extLst>
              <a:ext uri="{FF2B5EF4-FFF2-40B4-BE49-F238E27FC236}">
                <a16:creationId xmlns:a16="http://schemas.microsoft.com/office/drawing/2014/main" id="{F7C775E7-DB41-4B0C-B9CA-EC96CB84F172}"/>
              </a:ext>
            </a:extLst>
          </p:cNvPr>
          <p:cNvSpPr>
            <a:spLocks noGrp="1"/>
          </p:cNvSpPr>
          <p:nvPr>
            <p:ph idx="1"/>
          </p:nvPr>
        </p:nvSpPr>
        <p:spPr/>
        <p:txBody>
          <a:bodyPr/>
          <a:lstStyle/>
          <a:p>
            <a:r>
              <a:rPr lang="en-GB" dirty="0"/>
              <a:t>Must be the first thing on a line</a:t>
            </a:r>
          </a:p>
          <a:p>
            <a:endParaRPr lang="en-GB" dirty="0"/>
          </a:p>
          <a:p>
            <a:r>
              <a:rPr lang="en-GB" dirty="0"/>
              <a:t>Can be used for Modules, </a:t>
            </a:r>
            <a:r>
              <a:rPr lang="en-GB" dirty="0" err="1"/>
              <a:t>RunAsAdministrator</a:t>
            </a:r>
            <a:r>
              <a:rPr lang="en-GB" dirty="0"/>
              <a:t>, Version and more</a:t>
            </a:r>
          </a:p>
          <a:p>
            <a:endParaRPr lang="en-GB" dirty="0"/>
          </a:p>
          <a:p>
            <a:r>
              <a:rPr lang="en-GB" dirty="0"/>
              <a:t>Usually declared at the top of a script for visibility</a:t>
            </a:r>
          </a:p>
          <a:p>
            <a:endParaRPr lang="en-GB" dirty="0"/>
          </a:p>
        </p:txBody>
      </p:sp>
      <p:sp>
        <p:nvSpPr>
          <p:cNvPr id="4" name="TextBox 3">
            <a:extLst>
              <a:ext uri="{FF2B5EF4-FFF2-40B4-BE49-F238E27FC236}">
                <a16:creationId xmlns:a16="http://schemas.microsoft.com/office/drawing/2014/main" id="{D6AC2279-7E42-4E90-9F37-881CA4DB558E}"/>
              </a:ext>
            </a:extLst>
          </p:cNvPr>
          <p:cNvSpPr txBox="1"/>
          <p:nvPr/>
        </p:nvSpPr>
        <p:spPr>
          <a:xfrm>
            <a:off x="3903464" y="6415087"/>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1258718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719644-E9E8-44A4-90D1-6B55870E2B99}"/>
              </a:ext>
            </a:extLst>
          </p:cNvPr>
          <p:cNvSpPr>
            <a:spLocks noGrp="1"/>
          </p:cNvSpPr>
          <p:nvPr>
            <p:ph type="title"/>
          </p:nvPr>
        </p:nvSpPr>
        <p:spPr/>
        <p:txBody>
          <a:bodyPr/>
          <a:lstStyle/>
          <a:p>
            <a:r>
              <a:rPr lang="en-GB" dirty="0"/>
              <a:t>#Requires Demo</a:t>
            </a:r>
          </a:p>
        </p:txBody>
      </p:sp>
      <p:sp>
        <p:nvSpPr>
          <p:cNvPr id="5" name="Text Placeholder 4">
            <a:extLst>
              <a:ext uri="{FF2B5EF4-FFF2-40B4-BE49-F238E27FC236}">
                <a16:creationId xmlns:a16="http://schemas.microsoft.com/office/drawing/2014/main" id="{95C6CD90-D479-4FA8-9537-0B80D399C76B}"/>
              </a:ext>
            </a:extLst>
          </p:cNvPr>
          <p:cNvSpPr>
            <a:spLocks noGrp="1"/>
          </p:cNvSpPr>
          <p:nvPr>
            <p:ph type="body" idx="1"/>
          </p:nvPr>
        </p:nvSpPr>
        <p:spPr/>
        <p:txBody>
          <a:bodyPr/>
          <a:lstStyle/>
          <a:p>
            <a:endParaRPr lang="en-GB"/>
          </a:p>
        </p:txBody>
      </p:sp>
      <p:sp>
        <p:nvSpPr>
          <p:cNvPr id="6" name="TextBox 5">
            <a:extLst>
              <a:ext uri="{FF2B5EF4-FFF2-40B4-BE49-F238E27FC236}">
                <a16:creationId xmlns:a16="http://schemas.microsoft.com/office/drawing/2014/main" id="{820F053A-661D-4261-B50A-F2933C8E3963}"/>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424941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4671-C661-4C87-88D4-60F267B132B3}"/>
              </a:ext>
            </a:extLst>
          </p:cNvPr>
          <p:cNvSpPr>
            <a:spLocks noGrp="1"/>
          </p:cNvSpPr>
          <p:nvPr>
            <p:ph type="title"/>
          </p:nvPr>
        </p:nvSpPr>
        <p:spPr/>
        <p:txBody>
          <a:bodyPr/>
          <a:lstStyle/>
          <a:p>
            <a:r>
              <a:rPr lang="en-GB" dirty="0"/>
              <a:t> </a:t>
            </a:r>
            <a:r>
              <a:rPr lang="en-GB" dirty="0" err="1"/>
              <a:t>RequiredModules</a:t>
            </a:r>
            <a:endParaRPr lang="en-GB" dirty="0"/>
          </a:p>
        </p:txBody>
      </p:sp>
      <p:sp>
        <p:nvSpPr>
          <p:cNvPr id="3" name="Content Placeholder 2">
            <a:extLst>
              <a:ext uri="{FF2B5EF4-FFF2-40B4-BE49-F238E27FC236}">
                <a16:creationId xmlns:a16="http://schemas.microsoft.com/office/drawing/2014/main" id="{D562E328-C379-4E43-942B-A88148ADAD8D}"/>
              </a:ext>
            </a:extLst>
          </p:cNvPr>
          <p:cNvSpPr>
            <a:spLocks noGrp="1"/>
          </p:cNvSpPr>
          <p:nvPr>
            <p:ph idx="1"/>
          </p:nvPr>
        </p:nvSpPr>
        <p:spPr/>
        <p:txBody>
          <a:bodyPr/>
          <a:lstStyle/>
          <a:p>
            <a:r>
              <a:rPr lang="en-GB" dirty="0"/>
              <a:t>Declared in the module manifest</a:t>
            </a:r>
          </a:p>
          <a:p>
            <a:endParaRPr lang="en-GB" dirty="0"/>
          </a:p>
          <a:p>
            <a:r>
              <a:rPr lang="en-GB" dirty="0"/>
              <a:t>Either the name, “short” module info, or “long” module info</a:t>
            </a:r>
          </a:p>
          <a:p>
            <a:endParaRPr lang="en-GB" dirty="0"/>
          </a:p>
          <a:p>
            <a:r>
              <a:rPr lang="en-GB" dirty="0" err="1"/>
              <a:t>PowerShellGet</a:t>
            </a:r>
            <a:r>
              <a:rPr lang="en-GB" dirty="0"/>
              <a:t> will automatically install if not already available</a:t>
            </a:r>
          </a:p>
        </p:txBody>
      </p:sp>
      <p:sp>
        <p:nvSpPr>
          <p:cNvPr id="4" name="TextBox 3">
            <a:extLst>
              <a:ext uri="{FF2B5EF4-FFF2-40B4-BE49-F238E27FC236}">
                <a16:creationId xmlns:a16="http://schemas.microsoft.com/office/drawing/2014/main" id="{C065E7D1-8A69-490C-949B-AD6E53702A81}"/>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4078746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A6EF36-62BF-465E-91C9-2431157E7E22}"/>
              </a:ext>
            </a:extLst>
          </p:cNvPr>
          <p:cNvSpPr>
            <a:spLocks noGrp="1"/>
          </p:cNvSpPr>
          <p:nvPr>
            <p:ph type="title"/>
          </p:nvPr>
        </p:nvSpPr>
        <p:spPr/>
        <p:txBody>
          <a:bodyPr/>
          <a:lstStyle/>
          <a:p>
            <a:r>
              <a:rPr lang="en-GB" dirty="0" err="1"/>
              <a:t>RequiredModules</a:t>
            </a:r>
            <a:r>
              <a:rPr lang="en-GB" dirty="0"/>
              <a:t> Demo</a:t>
            </a:r>
          </a:p>
        </p:txBody>
      </p:sp>
      <p:sp>
        <p:nvSpPr>
          <p:cNvPr id="5" name="Text Placeholder 4">
            <a:extLst>
              <a:ext uri="{FF2B5EF4-FFF2-40B4-BE49-F238E27FC236}">
                <a16:creationId xmlns:a16="http://schemas.microsoft.com/office/drawing/2014/main" id="{0E40BEAC-AF12-4147-8076-B4DF743DCF8A}"/>
              </a:ext>
            </a:extLst>
          </p:cNvPr>
          <p:cNvSpPr>
            <a:spLocks noGrp="1"/>
          </p:cNvSpPr>
          <p:nvPr>
            <p:ph type="body" idx="1"/>
          </p:nvPr>
        </p:nvSpPr>
        <p:spPr/>
        <p:txBody>
          <a:bodyPr/>
          <a:lstStyle/>
          <a:p>
            <a:endParaRPr lang="en-GB"/>
          </a:p>
        </p:txBody>
      </p:sp>
      <p:sp>
        <p:nvSpPr>
          <p:cNvPr id="6" name="TextBox 5">
            <a:extLst>
              <a:ext uri="{FF2B5EF4-FFF2-40B4-BE49-F238E27FC236}">
                <a16:creationId xmlns:a16="http://schemas.microsoft.com/office/drawing/2014/main" id="{1A5276C6-9508-496D-8311-558C61622E66}"/>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9495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09AC-94A8-40C8-A8F7-7C00BE0EAE47}"/>
              </a:ext>
            </a:extLst>
          </p:cNvPr>
          <p:cNvSpPr>
            <a:spLocks noGrp="1"/>
          </p:cNvSpPr>
          <p:nvPr>
            <p:ph type="title"/>
          </p:nvPr>
        </p:nvSpPr>
        <p:spPr/>
        <p:txBody>
          <a:bodyPr/>
          <a:lstStyle/>
          <a:p>
            <a:r>
              <a:rPr lang="en-GB" dirty="0"/>
              <a:t>Dependency Types</a:t>
            </a:r>
          </a:p>
        </p:txBody>
      </p:sp>
      <p:sp>
        <p:nvSpPr>
          <p:cNvPr id="3" name="Content Placeholder 2">
            <a:extLst>
              <a:ext uri="{FF2B5EF4-FFF2-40B4-BE49-F238E27FC236}">
                <a16:creationId xmlns:a16="http://schemas.microsoft.com/office/drawing/2014/main" id="{69DC5609-04D2-4E77-8FBC-2B95AB165047}"/>
              </a:ext>
            </a:extLst>
          </p:cNvPr>
          <p:cNvSpPr>
            <a:spLocks noGrp="1"/>
          </p:cNvSpPr>
          <p:nvPr>
            <p:ph idx="1"/>
          </p:nvPr>
        </p:nvSpPr>
        <p:spPr/>
        <p:txBody>
          <a:bodyPr/>
          <a:lstStyle/>
          <a:p>
            <a:r>
              <a:rPr lang="en-GB" dirty="0"/>
              <a:t>Runtime dependencies</a:t>
            </a:r>
          </a:p>
          <a:p>
            <a:endParaRPr lang="en-GB" dirty="0"/>
          </a:p>
          <a:p>
            <a:r>
              <a:rPr lang="en-GB" dirty="0"/>
              <a:t>Build dependencies</a:t>
            </a:r>
          </a:p>
        </p:txBody>
      </p:sp>
      <p:sp>
        <p:nvSpPr>
          <p:cNvPr id="4" name="TextBox 3">
            <a:extLst>
              <a:ext uri="{FF2B5EF4-FFF2-40B4-BE49-F238E27FC236}">
                <a16:creationId xmlns:a16="http://schemas.microsoft.com/office/drawing/2014/main" id="{F4F6AFB8-3821-44B6-809A-235D8A93335B}"/>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4101655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C9DC-98E4-4376-9FBD-5B69C9A23C1B}"/>
              </a:ext>
            </a:extLst>
          </p:cNvPr>
          <p:cNvSpPr>
            <a:spLocks noGrp="1"/>
          </p:cNvSpPr>
          <p:nvPr>
            <p:ph type="title"/>
          </p:nvPr>
        </p:nvSpPr>
        <p:spPr/>
        <p:txBody>
          <a:bodyPr/>
          <a:lstStyle/>
          <a:p>
            <a:r>
              <a:rPr lang="en-GB" dirty="0"/>
              <a:t> </a:t>
            </a:r>
            <a:r>
              <a:rPr lang="en-GB" dirty="0" err="1"/>
              <a:t>PSDepend</a:t>
            </a:r>
            <a:endParaRPr lang="en-GB" dirty="0"/>
          </a:p>
        </p:txBody>
      </p:sp>
      <p:sp>
        <p:nvSpPr>
          <p:cNvPr id="3" name="Content Placeholder 2">
            <a:extLst>
              <a:ext uri="{FF2B5EF4-FFF2-40B4-BE49-F238E27FC236}">
                <a16:creationId xmlns:a16="http://schemas.microsoft.com/office/drawing/2014/main" id="{8571875A-E676-495D-8C7A-3F594243B15C}"/>
              </a:ext>
            </a:extLst>
          </p:cNvPr>
          <p:cNvSpPr>
            <a:spLocks noGrp="1"/>
          </p:cNvSpPr>
          <p:nvPr>
            <p:ph idx="1"/>
          </p:nvPr>
        </p:nvSpPr>
        <p:spPr/>
        <p:txBody>
          <a:bodyPr/>
          <a:lstStyle/>
          <a:p>
            <a:r>
              <a:rPr lang="en-GB" dirty="0"/>
              <a:t>Dependencies tracked with the code</a:t>
            </a:r>
          </a:p>
          <a:p>
            <a:endParaRPr lang="en-GB" dirty="0"/>
          </a:p>
          <a:p>
            <a:r>
              <a:rPr lang="en-GB" dirty="0"/>
              <a:t>Primarily for Build dependencies</a:t>
            </a:r>
          </a:p>
        </p:txBody>
      </p:sp>
      <p:sp>
        <p:nvSpPr>
          <p:cNvPr id="4" name="TextBox 3">
            <a:extLst>
              <a:ext uri="{FF2B5EF4-FFF2-40B4-BE49-F238E27FC236}">
                <a16:creationId xmlns:a16="http://schemas.microsoft.com/office/drawing/2014/main" id="{14F98E8D-D939-465F-B120-B87F8809D1C1}"/>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283698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F39A42-EBE7-4008-89C0-38FA6CCF7E58}"/>
              </a:ext>
            </a:extLst>
          </p:cNvPr>
          <p:cNvSpPr>
            <a:spLocks noGrp="1"/>
          </p:cNvSpPr>
          <p:nvPr>
            <p:ph type="title"/>
          </p:nvPr>
        </p:nvSpPr>
        <p:spPr/>
        <p:txBody>
          <a:bodyPr/>
          <a:lstStyle/>
          <a:p>
            <a:r>
              <a:rPr lang="en-GB" dirty="0" err="1"/>
              <a:t>PSDepend</a:t>
            </a:r>
            <a:r>
              <a:rPr lang="en-GB" dirty="0"/>
              <a:t> Demo</a:t>
            </a:r>
          </a:p>
        </p:txBody>
      </p:sp>
      <p:sp>
        <p:nvSpPr>
          <p:cNvPr id="5" name="Text Placeholder 4">
            <a:extLst>
              <a:ext uri="{FF2B5EF4-FFF2-40B4-BE49-F238E27FC236}">
                <a16:creationId xmlns:a16="http://schemas.microsoft.com/office/drawing/2014/main" id="{D12073CF-05B5-46FB-A662-CD9BFEDC617C}"/>
              </a:ext>
            </a:extLst>
          </p:cNvPr>
          <p:cNvSpPr>
            <a:spLocks noGrp="1"/>
          </p:cNvSpPr>
          <p:nvPr>
            <p:ph type="body" idx="1"/>
          </p:nvPr>
        </p:nvSpPr>
        <p:spPr/>
        <p:txBody>
          <a:bodyPr/>
          <a:lstStyle/>
          <a:p>
            <a:endParaRPr lang="en-GB"/>
          </a:p>
        </p:txBody>
      </p:sp>
      <p:sp>
        <p:nvSpPr>
          <p:cNvPr id="6" name="TextBox 5">
            <a:extLst>
              <a:ext uri="{FF2B5EF4-FFF2-40B4-BE49-F238E27FC236}">
                <a16:creationId xmlns:a16="http://schemas.microsoft.com/office/drawing/2014/main" id="{7DCA15C7-C6B6-4902-B4A8-BC3529F30BAD}"/>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4239839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865EA2-8272-416A-B480-F5D68081EFAB}"/>
              </a:ext>
            </a:extLst>
          </p:cNvPr>
          <p:cNvSpPr>
            <a:spLocks noGrp="1"/>
          </p:cNvSpPr>
          <p:nvPr>
            <p:ph type="title"/>
          </p:nvPr>
        </p:nvSpPr>
        <p:spPr/>
        <p:txBody>
          <a:bodyPr/>
          <a:lstStyle/>
          <a:p>
            <a:r>
              <a:rPr lang="en-GB" dirty="0"/>
              <a:t>Questions?</a:t>
            </a:r>
          </a:p>
        </p:txBody>
      </p:sp>
      <p:sp>
        <p:nvSpPr>
          <p:cNvPr id="5" name="Content Placeholder 4">
            <a:extLst>
              <a:ext uri="{FF2B5EF4-FFF2-40B4-BE49-F238E27FC236}">
                <a16:creationId xmlns:a16="http://schemas.microsoft.com/office/drawing/2014/main" id="{90B03F7B-3023-4D52-B950-E8AC1D19AD58}"/>
              </a:ext>
            </a:extLst>
          </p:cNvPr>
          <p:cNvSpPr>
            <a:spLocks noGrp="1"/>
          </p:cNvSpPr>
          <p:nvPr>
            <p:ph idx="1"/>
          </p:nvPr>
        </p:nvSpPr>
        <p:spPr/>
        <p:txBody>
          <a:bodyPr/>
          <a:lstStyle/>
          <a:p>
            <a:endParaRPr lang="en-GB"/>
          </a:p>
        </p:txBody>
      </p:sp>
      <p:sp>
        <p:nvSpPr>
          <p:cNvPr id="6" name="TextBox 5">
            <a:extLst>
              <a:ext uri="{FF2B5EF4-FFF2-40B4-BE49-F238E27FC236}">
                <a16:creationId xmlns:a16="http://schemas.microsoft.com/office/drawing/2014/main" id="{425B9024-6A93-427C-842A-495FAF52755E}"/>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542693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50D1-02FC-427C-AAC8-C1EE0436E9E5}"/>
              </a:ext>
            </a:extLst>
          </p:cNvPr>
          <p:cNvSpPr>
            <a:spLocks noGrp="1"/>
          </p:cNvSpPr>
          <p:nvPr>
            <p:ph type="title"/>
          </p:nvPr>
        </p:nvSpPr>
        <p:spPr/>
        <p:txBody>
          <a:bodyPr/>
          <a:lstStyle/>
          <a:p>
            <a:r>
              <a:rPr lang="en-GB" dirty="0"/>
              <a:t>Contact Me</a:t>
            </a:r>
          </a:p>
        </p:txBody>
      </p:sp>
      <p:sp>
        <p:nvSpPr>
          <p:cNvPr id="3" name="Content Placeholder 2">
            <a:extLst>
              <a:ext uri="{FF2B5EF4-FFF2-40B4-BE49-F238E27FC236}">
                <a16:creationId xmlns:a16="http://schemas.microsoft.com/office/drawing/2014/main" id="{0865B190-91AF-42BF-B9AA-DA9A8F165714}"/>
              </a:ext>
            </a:extLst>
          </p:cNvPr>
          <p:cNvSpPr>
            <a:spLocks noGrp="1"/>
          </p:cNvSpPr>
          <p:nvPr>
            <p:ph idx="1"/>
          </p:nvPr>
        </p:nvSpPr>
        <p:spPr/>
        <p:txBody>
          <a:bodyPr/>
          <a:lstStyle/>
          <a:p>
            <a:r>
              <a:rPr lang="en-GB" dirty="0" err="1"/>
              <a:t>Github</a:t>
            </a:r>
            <a:r>
              <a:rPr lang="en-GB" dirty="0"/>
              <a:t>/</a:t>
            </a:r>
            <a:r>
              <a:rPr lang="en-GB" dirty="0" err="1"/>
              <a:t>ChrisLGardner</a:t>
            </a:r>
            <a:endParaRPr lang="en-GB" dirty="0"/>
          </a:p>
          <a:p>
            <a:r>
              <a:rPr lang="en-GB" dirty="0"/>
              <a:t>Twitter: @</a:t>
            </a:r>
            <a:r>
              <a:rPr lang="en-GB" dirty="0" err="1"/>
              <a:t>HalbaradKenafin</a:t>
            </a:r>
            <a:endParaRPr lang="en-GB" dirty="0"/>
          </a:p>
          <a:p>
            <a:endParaRPr lang="en-GB" dirty="0"/>
          </a:p>
          <a:p>
            <a:r>
              <a:rPr lang="en-GB" dirty="0"/>
              <a:t>Slack/Discord: aka.ms/</a:t>
            </a:r>
            <a:r>
              <a:rPr lang="en-GB" dirty="0" err="1"/>
              <a:t>psslack</a:t>
            </a:r>
            <a:r>
              <a:rPr lang="en-GB" dirty="0"/>
              <a:t> or aka.ms/</a:t>
            </a:r>
            <a:r>
              <a:rPr lang="en-GB" dirty="0" err="1"/>
              <a:t>psdiscord</a:t>
            </a:r>
            <a:endParaRPr lang="en-GB" dirty="0"/>
          </a:p>
          <a:p>
            <a:endParaRPr lang="en-GB" dirty="0"/>
          </a:p>
        </p:txBody>
      </p:sp>
      <p:sp>
        <p:nvSpPr>
          <p:cNvPr id="4" name="TextBox 3">
            <a:extLst>
              <a:ext uri="{FF2B5EF4-FFF2-40B4-BE49-F238E27FC236}">
                <a16:creationId xmlns:a16="http://schemas.microsoft.com/office/drawing/2014/main" id="{F6803727-9D6C-427A-86EC-1681B905F641}"/>
              </a:ext>
            </a:extLst>
          </p:cNvPr>
          <p:cNvSpPr txBox="1"/>
          <p:nvPr/>
        </p:nvSpPr>
        <p:spPr>
          <a:xfrm>
            <a:off x="3903464" y="6407943"/>
            <a:ext cx="4385071" cy="369332"/>
          </a:xfrm>
          <a:prstGeom prst="rect">
            <a:avLst/>
          </a:prstGeom>
          <a:noFill/>
        </p:spPr>
        <p:txBody>
          <a:bodyPr wrap="square" rtlCol="0">
            <a:spAutoFit/>
          </a:bodyPr>
          <a:lstStyle/>
          <a:p>
            <a:pPr algn="ctr"/>
            <a:r>
              <a:rPr lang="en-GB" dirty="0">
                <a:solidFill>
                  <a:schemeClr val="bg1">
                    <a:lumMod val="50000"/>
                  </a:schemeClr>
                </a:solidFill>
              </a:rPr>
              <a:t>        Chris Gardner | @</a:t>
            </a:r>
            <a:r>
              <a:rPr lang="en-GB" dirty="0" err="1">
                <a:solidFill>
                  <a:schemeClr val="bg1">
                    <a:lumMod val="50000"/>
                  </a:schemeClr>
                </a:solidFill>
              </a:rPr>
              <a:t>HalbaradKenafin</a:t>
            </a:r>
            <a:endParaRPr lang="en-GB" dirty="0">
              <a:solidFill>
                <a:schemeClr val="bg1">
                  <a:lumMod val="50000"/>
                </a:schemeClr>
              </a:solidFill>
            </a:endParaRPr>
          </a:p>
        </p:txBody>
      </p:sp>
    </p:spTree>
    <p:extLst>
      <p:ext uri="{BB962C8B-B14F-4D97-AF65-F5344CB8AC3E}">
        <p14:creationId xmlns:p14="http://schemas.microsoft.com/office/powerpoint/2010/main" val="3567036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729</Words>
  <Application>Microsoft Office PowerPoint</Application>
  <PresentationFormat>Widescreen</PresentationFormat>
  <Paragraphs>89</Paragraphs>
  <Slides>13</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Lean on me</vt:lpstr>
      <vt:lpstr>Agenda</vt:lpstr>
      <vt:lpstr>Why should I care?</vt:lpstr>
      <vt:lpstr>Versioning – a side note</vt:lpstr>
      <vt:lpstr>#Requires</vt:lpstr>
      <vt:lpstr>#Requires Demo</vt:lpstr>
      <vt:lpstr> RequiredModules</vt:lpstr>
      <vt:lpstr>RequiredModules Demo</vt:lpstr>
      <vt:lpstr>Dependency Types</vt:lpstr>
      <vt:lpstr> PSDepend</vt:lpstr>
      <vt:lpstr>PSDepend Demo</vt:lpstr>
      <vt:lpstr>Questions?</vt:lpstr>
      <vt:lpstr>Contact 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on me</dc:title>
  <dc:creator>Chris Gardner</dc:creator>
  <cp:lastModifiedBy>Chris Gardner</cp:lastModifiedBy>
  <cp:revision>9</cp:revision>
  <dcterms:created xsi:type="dcterms:W3CDTF">2019-05-07T15:18:38Z</dcterms:created>
  <dcterms:modified xsi:type="dcterms:W3CDTF">2019-05-07T16:40:42Z</dcterms:modified>
</cp:coreProperties>
</file>