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9" r:id="rId3"/>
    <p:sldId id="257" r:id="rId4"/>
    <p:sldId id="269" r:id="rId5"/>
    <p:sldId id="271" r:id="rId6"/>
    <p:sldId id="270" r:id="rId7"/>
    <p:sldId id="260" r:id="rId8"/>
    <p:sldId id="272" r:id="rId9"/>
    <p:sldId id="261" r:id="rId10"/>
    <p:sldId id="273" r:id="rId11"/>
    <p:sldId id="262" r:id="rId12"/>
    <p:sldId id="263" r:id="rId13"/>
    <p:sldId id="264" r:id="rId14"/>
    <p:sldId id="265" r:id="rId15"/>
    <p:sldId id="266" r:id="rId16"/>
    <p:sldId id="267" r:id="rId17"/>
    <p:sldId id="268" r:id="rId18"/>
    <p:sldId id="275"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 Gardner" initials="CG" lastIdx="1" clrIdx="0">
    <p:extLst>
      <p:ext uri="{19B8F6BF-5375-455C-9EA6-DF929625EA0E}">
        <p15:presenceInfo xmlns:p15="http://schemas.microsoft.com/office/powerpoint/2012/main" userId="d5c55b3d0f58ef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2056" autoAdjust="0"/>
  </p:normalViewPr>
  <p:slideViewPr>
    <p:cSldViewPr snapToGrid="0">
      <p:cViewPr varScale="1">
        <p:scale>
          <a:sx n="83" d="100"/>
          <a:sy n="83" d="100"/>
        </p:scale>
        <p:origin x="45"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4-11T13:12:18.996" idx="1">
    <p:pos x="10" y="10"/>
    <p:text>Mortal combat style meme background</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604C43-729B-40E7-B3C8-C8549FADFABA}" type="datetimeFigureOut">
              <a:rPr lang="en-GB" smtClean="0"/>
              <a:t>30/04/2020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340E3-3922-4D11-A4C7-1DB67C0D0E28}" type="slidenum">
              <a:rPr lang="en-GB" smtClean="0"/>
              <a:t>‹#›</a:t>
            </a:fld>
            <a:endParaRPr lang="en-GB"/>
          </a:p>
        </p:txBody>
      </p:sp>
    </p:spTree>
    <p:extLst>
      <p:ext uri="{BB962C8B-B14F-4D97-AF65-F5344CB8AC3E}">
        <p14:creationId xmlns:p14="http://schemas.microsoft.com/office/powerpoint/2010/main" val="3932254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github.com/Azure/azure-functions-powershell-worker/blob/dev/docs/durable-experimental-instructions.md"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of the time when referring to Serverless people mean Functions as a Service and similar event based compute services.</a:t>
            </a:r>
          </a:p>
        </p:txBody>
      </p:sp>
      <p:sp>
        <p:nvSpPr>
          <p:cNvPr id="4" name="Slide Number Placeholder 3"/>
          <p:cNvSpPr>
            <a:spLocks noGrp="1"/>
          </p:cNvSpPr>
          <p:nvPr>
            <p:ph type="sldNum" sz="quarter" idx="5"/>
          </p:nvPr>
        </p:nvSpPr>
        <p:spPr/>
        <p:txBody>
          <a:bodyPr/>
          <a:lstStyle/>
          <a:p>
            <a:fld id="{362340E3-3922-4D11-A4C7-1DB67C0D0E28}" type="slidenum">
              <a:rPr lang="en-GB" smtClean="0"/>
              <a:t>4</a:t>
            </a:fld>
            <a:endParaRPr lang="en-GB"/>
          </a:p>
        </p:txBody>
      </p:sp>
    </p:spTree>
    <p:extLst>
      <p:ext uri="{BB962C8B-B14F-4D97-AF65-F5344CB8AC3E}">
        <p14:creationId xmlns:p14="http://schemas.microsoft.com/office/powerpoint/2010/main" val="1038774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Does anyone really like managing servers? With their regular updates and stuff? Even with WSUS/SCCM etc it’s still a pain to deal with. Deploying new ones can be easily done, especially with DSC or other config management but the ongoing management is a huge time sink.</a:t>
            </a:r>
          </a:p>
          <a:p>
            <a:endParaRPr lang="en-GB" dirty="0"/>
          </a:p>
          <a:p>
            <a:r>
              <a:rPr lang="en-GB" dirty="0"/>
              <a:t>Elastic scaling is a huge benefit of the cloud and one many people ignore or do badly for various reasons. If I can have my website scale up automatically when I’m at peak times and scale all the way back down in the middle of the night or weekend or whenever then that’ll save me a ton of money and resources. Not having to provision oversized VMs when they are only needed a few hours a day makes a </a:t>
            </a:r>
            <a:r>
              <a:rPr lang="en-GB" dirty="0" err="1"/>
              <a:t>noticible</a:t>
            </a:r>
            <a:r>
              <a:rPr lang="en-GB" dirty="0"/>
              <a:t> impact on the monthly bill.</a:t>
            </a:r>
          </a:p>
        </p:txBody>
      </p:sp>
      <p:sp>
        <p:nvSpPr>
          <p:cNvPr id="4" name="Slide Number Placeholder 3"/>
          <p:cNvSpPr>
            <a:spLocks noGrp="1"/>
          </p:cNvSpPr>
          <p:nvPr>
            <p:ph type="sldNum" sz="quarter" idx="5"/>
          </p:nvPr>
        </p:nvSpPr>
        <p:spPr/>
        <p:txBody>
          <a:bodyPr/>
          <a:lstStyle/>
          <a:p>
            <a:fld id="{362340E3-3922-4D11-A4C7-1DB67C0D0E28}" type="slidenum">
              <a:rPr lang="en-GB" smtClean="0"/>
              <a:t>5</a:t>
            </a:fld>
            <a:endParaRPr lang="en-GB"/>
          </a:p>
        </p:txBody>
      </p:sp>
    </p:spTree>
    <p:extLst>
      <p:ext uri="{BB962C8B-B14F-4D97-AF65-F5344CB8AC3E}">
        <p14:creationId xmlns:p14="http://schemas.microsoft.com/office/powerpoint/2010/main" val="2154232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Functions as a Service in particular are very efficient ways to move your compute to the cloud and save a ton of money, those occasional jobs you have that trigger regularly or on emails, web links etc can move to this model.</a:t>
            </a:r>
          </a:p>
          <a:p>
            <a:endParaRPr lang="en-GB" dirty="0"/>
          </a:p>
          <a:p>
            <a:r>
              <a:rPr lang="en-GB" dirty="0"/>
              <a:t>Got some VMs that eventually need a reboot after a random amount of time that you can’t really predict or run automated scripts on the box itself? Hook up your monitoring tool to watch for whatever causes the issue (memory leak etc) and have that trigger a web hook on your serverless function and get that to reboot the specific box for you (or redeploy it through your automated pipeline).</a:t>
            </a:r>
          </a:p>
          <a:p>
            <a:endParaRPr lang="en-GB" dirty="0"/>
          </a:p>
          <a:p>
            <a:r>
              <a:rPr lang="en-GB" dirty="0"/>
              <a:t>Each function should be like a PowerShell function, one purpose and limited inputs/outputs. This makes them much easier to maintain and chain together. More on that later but there are orchestration layers in both Azure and AWS that makes it very easy to link multiple serverless functions together and pass data between them and make decisions, loops, etc</a:t>
            </a:r>
          </a:p>
          <a:p>
            <a:endParaRPr lang="en-GB" dirty="0"/>
          </a:p>
          <a:p>
            <a:r>
              <a:rPr lang="en-GB" dirty="0"/>
              <a:t>Cost on serverless is often very low, because you’re only paying for a small amount of compute usage at a time, and ideally serverless functions don’t run for very long at all (a few minutes at most), then the costs can be kept pretty low even with what may seem like high usage. The free allowance that both platforms offers will often cover the majority of usage unless you’re doing a lot of work there. A company I used to work for managed to migrate a customers multi-million dollar a year on-prem orchestration solution into Logic Apps and Functions (with a few other bits and pieces of PaaS) and got the price down to a few £k a month on a really busy month.</a:t>
            </a:r>
          </a:p>
        </p:txBody>
      </p:sp>
      <p:sp>
        <p:nvSpPr>
          <p:cNvPr id="4" name="Slide Number Placeholder 3"/>
          <p:cNvSpPr>
            <a:spLocks noGrp="1"/>
          </p:cNvSpPr>
          <p:nvPr>
            <p:ph type="sldNum" sz="quarter" idx="5"/>
          </p:nvPr>
        </p:nvSpPr>
        <p:spPr/>
        <p:txBody>
          <a:bodyPr/>
          <a:lstStyle/>
          <a:p>
            <a:fld id="{362340E3-3922-4D11-A4C7-1DB67C0D0E28}" type="slidenum">
              <a:rPr lang="en-GB" smtClean="0"/>
              <a:t>6</a:t>
            </a:fld>
            <a:endParaRPr lang="en-GB"/>
          </a:p>
        </p:txBody>
      </p:sp>
    </p:spTree>
    <p:extLst>
      <p:ext uri="{BB962C8B-B14F-4D97-AF65-F5344CB8AC3E}">
        <p14:creationId xmlns:p14="http://schemas.microsoft.com/office/powerpoint/2010/main" val="270179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requirement for API Gateway on Lambda to have HTTP triggers is a pro and a con. From the pro side it means you can’t just have people randomly triggering your Lambda and potentially costing you money or causing damage to your infrastructure. On the negative side it means you’ve got to provision something else and manage that, it’s also strongly recommended you set up authorization on the API Gateway, which means either setting up Cognito or using another Lambda. I’ve used the Lambda approach, it’s pretty straightforward and just involves checking a header and returning the right response depending on whether it’s approved or not.</a:t>
            </a:r>
          </a:p>
          <a:p>
            <a:endParaRPr lang="en-GB" dirty="0"/>
          </a:p>
          <a:p>
            <a:r>
              <a:rPr lang="en-GB" dirty="0"/>
              <a:t>Management of Lambdas and Functions can get a bit out of control when you start using more of them. Ideally you’d only have ones related to the application/project on the same account/subscription as that </a:t>
            </a:r>
          </a:p>
          <a:p>
            <a:endParaRPr lang="en-GB" dirty="0"/>
          </a:p>
          <a:p>
            <a:r>
              <a:rPr lang="en-GB" dirty="0"/>
              <a:t>There’s a function runtime you can use locally to test your azure functions, it’s mostly useful for http and timer triggers but you can hook it up to the other trigger types too. Lambda has something similar but it’s only available for Node, Python and Go, in theory you should be able to just test your PS script and have it work but that’s not always enough since you’ll want to test the triggers, incoming messages etc</a:t>
            </a:r>
          </a:p>
        </p:txBody>
      </p:sp>
      <p:sp>
        <p:nvSpPr>
          <p:cNvPr id="4" name="Slide Number Placeholder 3"/>
          <p:cNvSpPr>
            <a:spLocks noGrp="1"/>
          </p:cNvSpPr>
          <p:nvPr>
            <p:ph type="sldNum" sz="quarter" idx="5"/>
          </p:nvPr>
        </p:nvSpPr>
        <p:spPr/>
        <p:txBody>
          <a:bodyPr/>
          <a:lstStyle/>
          <a:p>
            <a:fld id="{362340E3-3922-4D11-A4C7-1DB67C0D0E28}" type="slidenum">
              <a:rPr lang="en-GB" smtClean="0"/>
              <a:t>11</a:t>
            </a:fld>
            <a:endParaRPr lang="en-GB"/>
          </a:p>
        </p:txBody>
      </p:sp>
    </p:spTree>
    <p:extLst>
      <p:ext uri="{BB962C8B-B14F-4D97-AF65-F5344CB8AC3E}">
        <p14:creationId xmlns:p14="http://schemas.microsoft.com/office/powerpoint/2010/main" val="362372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Deployment of code to any environment other than Dev should be done through an automated pipeline from source control. </a:t>
            </a:r>
          </a:p>
          <a:p>
            <a:endParaRPr lang="en-GB" dirty="0"/>
          </a:p>
          <a:p>
            <a:r>
              <a:rPr lang="en-GB" dirty="0"/>
              <a:t>The first wave of DevOps was mostly about teaching Ops guys to dev, and that includes following all the patterns and practices that come along with it such as source control, build and release automation and more. We’ll eventually get the Dev guys to have more Ops skills but these are becoming more and more important, and writing PowerShell is a good first step on that road.</a:t>
            </a:r>
          </a:p>
          <a:p>
            <a:endParaRPr lang="en-GB" dirty="0"/>
          </a:p>
          <a:p>
            <a:r>
              <a:rPr lang="en-GB" dirty="0"/>
              <a:t>While you can deploy the actual code into a Function using ARM/Terraform I’d strongly recommend not to do it, you have two options for doing so. The first is to use the source control links, which let you hook it up to </a:t>
            </a:r>
            <a:r>
              <a:rPr lang="en-GB" dirty="0" err="1"/>
              <a:t>github</a:t>
            </a:r>
            <a:r>
              <a:rPr lang="en-GB" dirty="0"/>
              <a:t> or another public git repo (or mercurial for reasons). This could be acceptable if you’ve got a strong CI pipeline in place to handle PRs and everything on a branch is always production ready, but I’d still avoid this. The other option is the really hacky approach, you can spec</a:t>
            </a:r>
          </a:p>
        </p:txBody>
      </p:sp>
      <p:sp>
        <p:nvSpPr>
          <p:cNvPr id="4" name="Slide Number Placeholder 3"/>
          <p:cNvSpPr>
            <a:spLocks noGrp="1"/>
          </p:cNvSpPr>
          <p:nvPr>
            <p:ph type="sldNum" sz="quarter" idx="5"/>
          </p:nvPr>
        </p:nvSpPr>
        <p:spPr/>
        <p:txBody>
          <a:bodyPr/>
          <a:lstStyle/>
          <a:p>
            <a:fld id="{362340E3-3922-4D11-A4C7-1DB67C0D0E28}" type="slidenum">
              <a:rPr lang="en-GB" smtClean="0"/>
              <a:t>12</a:t>
            </a:fld>
            <a:endParaRPr lang="en-GB"/>
          </a:p>
        </p:txBody>
      </p:sp>
    </p:spTree>
    <p:extLst>
      <p:ext uri="{BB962C8B-B14F-4D97-AF65-F5344CB8AC3E}">
        <p14:creationId xmlns:p14="http://schemas.microsoft.com/office/powerpoint/2010/main" val="1455801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Due to the model used by AWS for running PowerShell in Lambda there is only one method supported for publishing code to it. The module will package up the script, any dependencies (specified by #requires), and the various assemblies required for </a:t>
            </a:r>
            <a:r>
              <a:rPr lang="en-GB" dirty="0" err="1"/>
              <a:t>PSCore</a:t>
            </a:r>
            <a:r>
              <a:rPr lang="en-GB" dirty="0"/>
              <a:t>, this is then pushed to your Lambda and ran from there. It’s an interesting approach and has allowed them to adopt PS 7 as soon as the Lambda engine supported </a:t>
            </a:r>
            <a:r>
              <a:rPr lang="en-GB" dirty="0" err="1"/>
              <a:t>.net</a:t>
            </a:r>
            <a:r>
              <a:rPr lang="en-GB" dirty="0"/>
              <a:t> core 3.1 but makes the dev experience a bit more effort as you have to package and push each time you make changes.</a:t>
            </a:r>
          </a:p>
          <a:p>
            <a:endParaRPr lang="en-GB" dirty="0"/>
          </a:p>
          <a:p>
            <a:r>
              <a:rPr lang="en-GB" dirty="0"/>
              <a:t>The advantage this has is that it ensures a consistent process both for dev machines and for the CI/CD pipeline.</a:t>
            </a:r>
          </a:p>
          <a:p>
            <a:endParaRPr lang="en-GB" dirty="0"/>
          </a:p>
          <a:p>
            <a:r>
              <a:rPr lang="en-GB" dirty="0"/>
              <a:t>The module provides a Publish and Package command. The Publish does what you’d expect and sends it all to Lambda with the various dependencies, creating the lambda if you don’t already have one with that name (make sure to check your spelling). The package does the main work of pulling in the dependencies etc and builds a nice zip file for you to use. This can then be published to S3 for use in a CloudFormation template. The issue I had with this approach was that I named the zip file after my Lambda, but if you push new builds then CF doesn’t see anything has changed with the lambda so doesn’t publish the new code. The alternative approach is to name the zip file with a git hash or something in there to </a:t>
            </a:r>
            <a:r>
              <a:rPr lang="en-GB" dirty="0" err="1"/>
              <a:t>incremement</a:t>
            </a:r>
            <a:r>
              <a:rPr lang="en-GB" dirty="0"/>
              <a:t> it, pass that into your template and use it so the lambda gets updated correctly on each deployment.</a:t>
            </a:r>
          </a:p>
        </p:txBody>
      </p:sp>
      <p:sp>
        <p:nvSpPr>
          <p:cNvPr id="4" name="Slide Number Placeholder 3"/>
          <p:cNvSpPr>
            <a:spLocks noGrp="1"/>
          </p:cNvSpPr>
          <p:nvPr>
            <p:ph type="sldNum" sz="quarter" idx="5"/>
          </p:nvPr>
        </p:nvSpPr>
        <p:spPr/>
        <p:txBody>
          <a:bodyPr/>
          <a:lstStyle/>
          <a:p>
            <a:fld id="{362340E3-3922-4D11-A4C7-1DB67C0D0E28}" type="slidenum">
              <a:rPr lang="en-GB" smtClean="0"/>
              <a:t>13</a:t>
            </a:fld>
            <a:endParaRPr lang="en-GB"/>
          </a:p>
        </p:txBody>
      </p:sp>
    </p:spTree>
    <p:extLst>
      <p:ext uri="{BB962C8B-B14F-4D97-AF65-F5344CB8AC3E}">
        <p14:creationId xmlns:p14="http://schemas.microsoft.com/office/powerpoint/2010/main" val="1886788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AD allows you to run a Function as a specific identity, either system managed or user managed, and assign permissions to other resources based on that identity. Very similar to how AWS IAM works, but the two big advantages it provides over IAM, it’ll allow you to grant permissions to more than just Azure resources so you can use it to manage your AAD as well, it’s a more familiar model for sysadmins coming from a Windows background (which many PowerShell users are) since it’s mostly, sort of, AD in the cloud (but not quite, even AADDS isn’t quite that).</a:t>
            </a:r>
          </a:p>
          <a:p>
            <a:endParaRPr lang="en-GB" dirty="0"/>
          </a:p>
          <a:p>
            <a:r>
              <a:rPr lang="en-GB" dirty="0"/>
              <a:t>Application Insights is a huge advantage and a really amazing tool for any monitoring you want to do of your applications, not just functions. CloudWatch is pretty good for metrics and logs but App Insights hooks deeper into almost all of the platforms in Azure and gives you a deeper look of what’s going on, how the different parts of your application are talking to each other, error rates and more, all for almost free, and if you’re writing something in C# or another compiled language you can hook in the libraries and add more custom monitoring in there too. There’s at least one talk out there on using App Insights for PowerShell that’s worth checking out if you’re interested in more about this.</a:t>
            </a:r>
          </a:p>
          <a:p>
            <a:endParaRPr lang="en-GB" dirty="0"/>
          </a:p>
          <a:p>
            <a:r>
              <a:rPr lang="en-GB" dirty="0"/>
              <a:t>Key Vault is very useful for storing secrets in and if you assign an identity to your Function App then it can access the key vault for those secrets. One important thing to note is that you should set the permissions for that identity to Get secrets but not List, that’ll mean it can retrieve secrets it knows are there but won’t be able to easily find out what secrets are there. Ideally we’d be able to look down an identity to just certain secrets but I’ve not seen that being possible yet.</a:t>
            </a:r>
          </a:p>
          <a:p>
            <a:endParaRPr lang="en-GB" dirty="0"/>
          </a:p>
          <a:p>
            <a:r>
              <a:rPr lang="en-GB" dirty="0"/>
              <a:t>For orchestration of multiple functions or long running jobs there’s the option for Durable Functions, currently in experimental, and Logic Apps. There’s a lot more to them that others have covered in various sessions, blog posts, and docs.</a:t>
            </a:r>
          </a:p>
          <a:p>
            <a:endParaRPr lang="en-GB" dirty="0"/>
          </a:p>
          <a:p>
            <a:r>
              <a:rPr lang="en-GB" dirty="0">
                <a:hlinkClick r:id="rId3"/>
              </a:rPr>
              <a:t>https://github.com/Azure/azure-functions-powershell-worker/blob/dev/docs/durable-experimental-instructions.md</a:t>
            </a:r>
            <a:endParaRPr lang="en-GB" dirty="0"/>
          </a:p>
        </p:txBody>
      </p:sp>
      <p:sp>
        <p:nvSpPr>
          <p:cNvPr id="4" name="Slide Number Placeholder 3"/>
          <p:cNvSpPr>
            <a:spLocks noGrp="1"/>
          </p:cNvSpPr>
          <p:nvPr>
            <p:ph type="sldNum" sz="quarter" idx="5"/>
          </p:nvPr>
        </p:nvSpPr>
        <p:spPr/>
        <p:txBody>
          <a:bodyPr/>
          <a:lstStyle/>
          <a:p>
            <a:fld id="{362340E3-3922-4D11-A4C7-1DB67C0D0E28}" type="slidenum">
              <a:rPr lang="en-GB" smtClean="0"/>
              <a:t>14</a:t>
            </a:fld>
            <a:endParaRPr lang="en-GB"/>
          </a:p>
        </p:txBody>
      </p:sp>
    </p:spTree>
    <p:extLst>
      <p:ext uri="{BB962C8B-B14F-4D97-AF65-F5344CB8AC3E}">
        <p14:creationId xmlns:p14="http://schemas.microsoft.com/office/powerpoint/2010/main" val="808493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Param store in AWS is very cool, it’s a service which allows you store a variety of different data include secrets and access them with a simple API call (or cmdlet). The big benefit is that you can store JSON there for some config options, pull it down when your Lambda starts up and make use of it. An example of this is that we’ve got a Lambda for querying App Insights for various metrics and pushing them to </a:t>
            </a:r>
            <a:r>
              <a:rPr lang="en-GB" dirty="0" err="1"/>
              <a:t>datadog</a:t>
            </a:r>
            <a:r>
              <a:rPr lang="en-GB" dirty="0"/>
              <a:t>, as a way to unify where all our dashboards are. Rather than writing a Lambda for each service we’ve got in Azure, I wrote a single Lambda that took a name and then pulled the relevant config object down and worked with that. This allows us to update the config for individual services without pushing new code to a lambda, or maintaining multiple Lambdas.</a:t>
            </a:r>
          </a:p>
          <a:p>
            <a:endParaRPr lang="en-GB" dirty="0"/>
          </a:p>
          <a:p>
            <a:r>
              <a:rPr lang="en-GB" dirty="0"/>
              <a:t>Despite the downside of Lambda not supporting HTTP endpoints by default, API Gateway is pretty useful for adding this, it allows you to specify a single entry point to your application and each Lambda or other service can be behind a different endpoint on it, with Authentication available as well (per endpoint as well). This gives you a lot of flexibility and allows you to do things like rate limiting etc from the gateway layer.</a:t>
            </a:r>
          </a:p>
          <a:p>
            <a:endParaRPr lang="en-GB" dirty="0"/>
          </a:p>
          <a:p>
            <a:r>
              <a:rPr lang="en-GB" dirty="0"/>
              <a:t>The IAM service in AWS is very detailed and can give very fine grained control over what a resource can and can’t do, and it can all be deployed via CloudFormation and other </a:t>
            </a:r>
            <a:r>
              <a:rPr lang="en-GB" dirty="0" err="1"/>
              <a:t>IaC</a:t>
            </a:r>
            <a:r>
              <a:rPr lang="en-GB" dirty="0"/>
              <a:t> methods so you can track the permissions alongside the code for your Lambda.</a:t>
            </a:r>
          </a:p>
          <a:p>
            <a:endParaRPr lang="en-GB" dirty="0"/>
          </a:p>
          <a:p>
            <a:r>
              <a:rPr lang="en-GB" dirty="0"/>
              <a:t>For orchestration of various lambdas, long running jobs, or async workloads, you can make use of Step Functions, in many similar ways to Logic Apps.</a:t>
            </a:r>
          </a:p>
        </p:txBody>
      </p:sp>
      <p:sp>
        <p:nvSpPr>
          <p:cNvPr id="4" name="Slide Number Placeholder 3"/>
          <p:cNvSpPr>
            <a:spLocks noGrp="1"/>
          </p:cNvSpPr>
          <p:nvPr>
            <p:ph type="sldNum" sz="quarter" idx="5"/>
          </p:nvPr>
        </p:nvSpPr>
        <p:spPr/>
        <p:txBody>
          <a:bodyPr/>
          <a:lstStyle/>
          <a:p>
            <a:fld id="{362340E3-3922-4D11-A4C7-1DB67C0D0E28}" type="slidenum">
              <a:rPr lang="en-GB" smtClean="0"/>
              <a:t>15</a:t>
            </a:fld>
            <a:endParaRPr lang="en-GB"/>
          </a:p>
        </p:txBody>
      </p:sp>
    </p:spTree>
    <p:extLst>
      <p:ext uri="{BB962C8B-B14F-4D97-AF65-F5344CB8AC3E}">
        <p14:creationId xmlns:p14="http://schemas.microsoft.com/office/powerpoint/2010/main" val="2823774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Skipping over the obvious reason to choose either of these being that you’re only using that one cloud. I’m mostly looking at this from the point of view of people who are multi cloud (for whatever reason) or who don’t have any cloud yet.</a:t>
            </a:r>
          </a:p>
          <a:p>
            <a:endParaRPr lang="en-GB" dirty="0"/>
          </a:p>
          <a:p>
            <a:r>
              <a:rPr lang="en-GB" dirty="0"/>
              <a:t>Not needing to create and manage additional infra for HTTP support is a big advantage for Functions, along with hosting multiple functions within a single app service gives you a lot of the same functionality as API Gateway in AWS. HTTP and timer are the most commonly used triggers (especially for sysadmin tasks) so making these easier is a big benefit.</a:t>
            </a:r>
          </a:p>
          <a:p>
            <a:endParaRPr lang="en-GB" dirty="0"/>
          </a:p>
          <a:p>
            <a:r>
              <a:rPr lang="en-GB" dirty="0"/>
              <a:t>The output options for Functions cover a wide range of options and give you options for persistent storage and triggering other event based endpoints using both http and service bus and other queuing systems.</a:t>
            </a:r>
          </a:p>
          <a:p>
            <a:endParaRPr lang="en-GB" dirty="0"/>
          </a:p>
          <a:p>
            <a:r>
              <a:rPr lang="en-GB" dirty="0"/>
              <a:t>If you’re looking at </a:t>
            </a:r>
            <a:r>
              <a:rPr lang="en-GB" dirty="0" err="1"/>
              <a:t>ChatOps</a:t>
            </a:r>
            <a:r>
              <a:rPr lang="en-GB" dirty="0"/>
              <a:t> tools and make use of Teams then </a:t>
            </a:r>
            <a:r>
              <a:rPr lang="en-GB" dirty="0" err="1"/>
              <a:t>PoshBot</a:t>
            </a:r>
            <a:r>
              <a:rPr lang="en-GB" dirty="0"/>
              <a:t> is a good option as it’s all PowerShell and very easy to integrate and use. It makes use of a Function as part of that, due to Teams reasons. You could also use Lambda but it’d require a bit more infra and some changes to the Teams backend in </a:t>
            </a:r>
            <a:r>
              <a:rPr lang="en-GB" dirty="0" err="1"/>
              <a:t>PoshBot</a:t>
            </a:r>
            <a:r>
              <a:rPr lang="en-GB" dirty="0"/>
              <a:t>.</a:t>
            </a:r>
          </a:p>
        </p:txBody>
      </p:sp>
      <p:sp>
        <p:nvSpPr>
          <p:cNvPr id="4" name="Slide Number Placeholder 3"/>
          <p:cNvSpPr>
            <a:spLocks noGrp="1"/>
          </p:cNvSpPr>
          <p:nvPr>
            <p:ph type="sldNum" sz="quarter" idx="5"/>
          </p:nvPr>
        </p:nvSpPr>
        <p:spPr/>
        <p:txBody>
          <a:bodyPr/>
          <a:lstStyle/>
          <a:p>
            <a:fld id="{362340E3-3922-4D11-A4C7-1DB67C0D0E28}" type="slidenum">
              <a:rPr lang="en-GB" smtClean="0"/>
              <a:t>16</a:t>
            </a:fld>
            <a:endParaRPr lang="en-GB"/>
          </a:p>
        </p:txBody>
      </p:sp>
    </p:spTree>
    <p:extLst>
      <p:ext uri="{BB962C8B-B14F-4D97-AF65-F5344CB8AC3E}">
        <p14:creationId xmlns:p14="http://schemas.microsoft.com/office/powerpoint/2010/main" val="3052933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 pretty big one, it’ll let you easily abstract away the config for what could end up being multiple Lambdas into a single one which pulls down relevant configuration. This is especially useful when you’re triggering to events from SQS or similar where you can include some metadata about what configuration you’re going to need.</a:t>
            </a:r>
          </a:p>
          <a:p>
            <a:endParaRPr lang="en-GB" dirty="0"/>
          </a:p>
          <a:p>
            <a:r>
              <a:rPr lang="en-GB" dirty="0"/>
              <a:t>As discussed earlier the only way to publish PowerShell code to a Lambda is to use the module and either it’s Package or Publish commands, this reduces the possible issues you’ll find where your test Lambda functions differently than the production Lambda.</a:t>
            </a:r>
          </a:p>
        </p:txBody>
      </p:sp>
      <p:sp>
        <p:nvSpPr>
          <p:cNvPr id="4" name="Slide Number Placeholder 3"/>
          <p:cNvSpPr>
            <a:spLocks noGrp="1"/>
          </p:cNvSpPr>
          <p:nvPr>
            <p:ph type="sldNum" sz="quarter" idx="5"/>
          </p:nvPr>
        </p:nvSpPr>
        <p:spPr/>
        <p:txBody>
          <a:bodyPr/>
          <a:lstStyle/>
          <a:p>
            <a:fld id="{362340E3-3922-4D11-A4C7-1DB67C0D0E28}" type="slidenum">
              <a:rPr lang="en-GB" smtClean="0"/>
              <a:t>17</a:t>
            </a:fld>
            <a:endParaRPr lang="en-GB"/>
          </a:p>
        </p:txBody>
      </p:sp>
    </p:spTree>
    <p:extLst>
      <p:ext uri="{BB962C8B-B14F-4D97-AF65-F5344CB8AC3E}">
        <p14:creationId xmlns:p14="http://schemas.microsoft.com/office/powerpoint/2010/main" val="3448758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Both are very good platforms for running your serverless PowerShell workloads and I’d recommend you investigate them for any sort of event driven automation you want to do. They provide a lot of flexibility and scalability for basically 0 cost.</a:t>
            </a:r>
          </a:p>
        </p:txBody>
      </p:sp>
      <p:sp>
        <p:nvSpPr>
          <p:cNvPr id="4" name="Slide Number Placeholder 3"/>
          <p:cNvSpPr>
            <a:spLocks noGrp="1"/>
          </p:cNvSpPr>
          <p:nvPr>
            <p:ph type="sldNum" sz="quarter" idx="5"/>
          </p:nvPr>
        </p:nvSpPr>
        <p:spPr/>
        <p:txBody>
          <a:bodyPr/>
          <a:lstStyle/>
          <a:p>
            <a:fld id="{362340E3-3922-4D11-A4C7-1DB67C0D0E28}" type="slidenum">
              <a:rPr lang="en-GB" smtClean="0"/>
              <a:t>18</a:t>
            </a:fld>
            <a:endParaRPr lang="en-GB"/>
          </a:p>
        </p:txBody>
      </p:sp>
    </p:spTree>
    <p:extLst>
      <p:ext uri="{BB962C8B-B14F-4D97-AF65-F5344CB8AC3E}">
        <p14:creationId xmlns:p14="http://schemas.microsoft.com/office/powerpoint/2010/main" val="1936083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89E2B9-2AAB-4D93-9BB9-B90E1153B6E3}" type="datetimeFigureOut">
              <a:rPr lang="en-GB" smtClean="0"/>
              <a:t>30/04/2020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0C9764-6CB4-45AB-A7F3-7DDFD2ED1B2D}"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269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9E2B9-2AAB-4D93-9BB9-B90E1153B6E3}" type="datetimeFigureOut">
              <a:rPr lang="en-GB" smtClean="0"/>
              <a:t>30/04/2020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3146895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89E2B9-2AAB-4D93-9BB9-B90E1153B6E3}" type="datetimeFigureOut">
              <a:rPr lang="en-GB" smtClean="0"/>
              <a:t>30/04/2020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0C9764-6CB4-45AB-A7F3-7DDFD2ED1B2D}"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926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89E2B9-2AAB-4D93-9BB9-B90E1153B6E3}" type="datetimeFigureOut">
              <a:rPr lang="en-GB" smtClean="0"/>
              <a:t>30/04/2020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161659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89E2B9-2AAB-4D93-9BB9-B90E1153B6E3}" type="datetimeFigureOut">
              <a:rPr lang="en-GB" smtClean="0"/>
              <a:t>30/04/2020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3115907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89E2B9-2AAB-4D93-9BB9-B90E1153B6E3}" type="datetimeFigureOut">
              <a:rPr lang="en-GB" smtClean="0"/>
              <a:t>30/04/2020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287460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589E2B9-2AAB-4D93-9BB9-B90E1153B6E3}" type="datetimeFigureOut">
              <a:rPr lang="en-GB" smtClean="0"/>
              <a:t>30/04/2020</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1696936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589E2B9-2AAB-4D93-9BB9-B90E1153B6E3}" type="datetimeFigureOut">
              <a:rPr lang="en-GB" smtClean="0"/>
              <a:t>30/04/2020</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C0C9764-6CB4-45AB-A7F3-7DDFD2ED1B2D}" type="slidenum">
              <a:rPr lang="en-GB" smtClean="0"/>
              <a:t>‹#›</a:t>
            </a:fld>
            <a:endParaRPr lang="en-GB"/>
          </a:p>
        </p:txBody>
      </p:sp>
    </p:spTree>
    <p:extLst>
      <p:ext uri="{BB962C8B-B14F-4D97-AF65-F5344CB8AC3E}">
        <p14:creationId xmlns:p14="http://schemas.microsoft.com/office/powerpoint/2010/main" val="3326202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89E2B9-2AAB-4D93-9BB9-B90E1153B6E3}" type="datetimeFigureOut">
              <a:rPr lang="en-GB" smtClean="0"/>
              <a:t>30/04/2020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608939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9E2B9-2AAB-4D93-9BB9-B90E1153B6E3}" type="datetimeFigureOut">
              <a:rPr lang="en-GB" smtClean="0"/>
              <a:t>30/04/2020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263281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9E2B9-2AAB-4D93-9BB9-B90E1153B6E3}" type="datetimeFigureOut">
              <a:rPr lang="en-GB" smtClean="0"/>
              <a:t>30/04/2020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0C9764-6CB4-45AB-A7F3-7DDFD2ED1B2D}" type="slidenum">
              <a:rPr lang="en-GB" smtClean="0"/>
              <a:t>‹#›</a:t>
            </a:fld>
            <a:endParaRPr lang="en-GB"/>
          </a:p>
        </p:txBody>
      </p:sp>
    </p:spTree>
    <p:extLst>
      <p:ext uri="{BB962C8B-B14F-4D97-AF65-F5344CB8AC3E}">
        <p14:creationId xmlns:p14="http://schemas.microsoft.com/office/powerpoint/2010/main" val="4218795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589E2B9-2AAB-4D93-9BB9-B90E1153B6E3}" type="datetimeFigureOut">
              <a:rPr lang="en-GB" smtClean="0"/>
              <a:t>30/04/2020</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C0C9764-6CB4-45AB-A7F3-7DDFD2ED1B2D}"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694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cs.com/en-us/azure/azure-functions/functions-triggers-binding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05DB40-9529-4226-8F38-00C9F0558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999" y="1"/>
            <a:ext cx="10799999" cy="6858000"/>
          </a:xfrm>
          <a:prstGeom prst="rect">
            <a:avLst/>
          </a:prstGeom>
        </p:spPr>
      </p:pic>
      <p:sp>
        <p:nvSpPr>
          <p:cNvPr id="4" name="TextBox 3">
            <a:extLst>
              <a:ext uri="{FF2B5EF4-FFF2-40B4-BE49-F238E27FC236}">
                <a16:creationId xmlns:a16="http://schemas.microsoft.com/office/drawing/2014/main" id="{C6F7BDD1-8F64-4DAD-8D41-D08647932A5E}"/>
              </a:ext>
            </a:extLst>
          </p:cNvPr>
          <p:cNvSpPr txBox="1"/>
          <p:nvPr/>
        </p:nvSpPr>
        <p:spPr>
          <a:xfrm>
            <a:off x="57509" y="6320287"/>
            <a:ext cx="3916393" cy="369332"/>
          </a:xfrm>
          <a:prstGeom prst="rect">
            <a:avLst/>
          </a:prstGeom>
          <a:noFill/>
        </p:spPr>
        <p:txBody>
          <a:bodyPr wrap="square" rtlCol="0">
            <a:spAutoFit/>
          </a:bodyPr>
          <a:lstStyle/>
          <a:p>
            <a:r>
              <a:rPr lang="en-GB" dirty="0">
                <a:solidFill>
                  <a:schemeClr val="bg1">
                    <a:lumMod val="50000"/>
                  </a:schemeClr>
                </a:solidFill>
              </a:rPr>
              <a:t>@</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327353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0D25-2D00-4002-970A-94F316D5612A}"/>
              </a:ext>
            </a:extLst>
          </p:cNvPr>
          <p:cNvSpPr>
            <a:spLocks noGrp="1"/>
          </p:cNvSpPr>
          <p:nvPr>
            <p:ph type="title"/>
          </p:nvPr>
        </p:nvSpPr>
        <p:spPr/>
        <p:txBody>
          <a:bodyPr/>
          <a:lstStyle/>
          <a:p>
            <a:r>
              <a:rPr lang="en-GB" dirty="0" err="1"/>
              <a:t>Whoami</a:t>
            </a:r>
            <a:endParaRPr lang="en-GB" dirty="0"/>
          </a:p>
        </p:txBody>
      </p:sp>
      <p:sp>
        <p:nvSpPr>
          <p:cNvPr id="3" name="Content Placeholder 2">
            <a:extLst>
              <a:ext uri="{FF2B5EF4-FFF2-40B4-BE49-F238E27FC236}">
                <a16:creationId xmlns:a16="http://schemas.microsoft.com/office/drawing/2014/main" id="{DE99D403-0E98-43A6-BFCC-845FB416C9D6}"/>
              </a:ext>
            </a:extLst>
          </p:cNvPr>
          <p:cNvSpPr>
            <a:spLocks noGrp="1"/>
          </p:cNvSpPr>
          <p:nvPr>
            <p:ph idx="1"/>
          </p:nvPr>
        </p:nvSpPr>
        <p:spPr/>
        <p:txBody>
          <a:bodyPr>
            <a:normAutofit lnSpcReduction="10000"/>
          </a:bodyPr>
          <a:lstStyle/>
          <a:p>
            <a:pPr marL="285750" indent="-285750"/>
            <a:r>
              <a:rPr lang="en-GB" sz="3200" dirty="0"/>
              <a:t>PowerShell user for ~7 years</a:t>
            </a:r>
          </a:p>
          <a:p>
            <a:pPr marL="285750" indent="-285750"/>
            <a:r>
              <a:rPr lang="en-GB" sz="3200" dirty="0"/>
              <a:t>Too many side projects</a:t>
            </a:r>
          </a:p>
          <a:p>
            <a:pPr marL="285750" indent="-285750"/>
            <a:r>
              <a:rPr lang="en-GB" sz="3200" dirty="0"/>
              <a:t>Work a lot with Azure and AWS as an SRE for Sage</a:t>
            </a:r>
          </a:p>
          <a:p>
            <a:pPr marL="285750" indent="-285750"/>
            <a:r>
              <a:rPr lang="en-GB" sz="3200" dirty="0"/>
              <a:t>I have stickers for anyone who wants some</a:t>
            </a:r>
          </a:p>
          <a:p>
            <a:pPr marL="285750" indent="-285750"/>
            <a:endParaRPr lang="en-GB" sz="3200" dirty="0"/>
          </a:p>
          <a:p>
            <a:pPr marL="285750" indent="-285750"/>
            <a:endParaRPr lang="en-GB" sz="3200" dirty="0"/>
          </a:p>
          <a:p>
            <a:pPr marL="285750" indent="-285750"/>
            <a:r>
              <a:rPr lang="en-GB" sz="3200" dirty="0"/>
              <a:t>Join Slack/Discord: aka.ms/</a:t>
            </a:r>
            <a:r>
              <a:rPr lang="en-GB" sz="3200" dirty="0" err="1"/>
              <a:t>psslack</a:t>
            </a:r>
            <a:r>
              <a:rPr lang="en-GB" sz="3200" dirty="0"/>
              <a:t> or aka.ms/</a:t>
            </a:r>
            <a:r>
              <a:rPr lang="en-GB" sz="3200" dirty="0" err="1"/>
              <a:t>psdiscord</a:t>
            </a:r>
            <a:endParaRPr lang="en-GB" sz="3200" dirty="0"/>
          </a:p>
        </p:txBody>
      </p:sp>
      <p:sp>
        <p:nvSpPr>
          <p:cNvPr id="4" name="TextBox 3">
            <a:extLst>
              <a:ext uri="{FF2B5EF4-FFF2-40B4-BE49-F238E27FC236}">
                <a16:creationId xmlns:a16="http://schemas.microsoft.com/office/drawing/2014/main" id="{07C3448C-A96E-4976-B64F-870808D7D642}"/>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2377553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6C3B-7136-446D-A220-8FDFB7BAB888}"/>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F9F4A8FD-2099-48F7-9206-BDBECDC3A57C}"/>
              </a:ext>
            </a:extLst>
          </p:cNvPr>
          <p:cNvSpPr>
            <a:spLocks noGrp="1"/>
          </p:cNvSpPr>
          <p:nvPr>
            <p:ph idx="1"/>
          </p:nvPr>
        </p:nvSpPr>
        <p:spPr/>
        <p:txBody>
          <a:bodyPr/>
          <a:lstStyle/>
          <a:p>
            <a:r>
              <a:rPr lang="en-GB" dirty="0"/>
              <a:t>What is “Serverless”?</a:t>
            </a:r>
          </a:p>
          <a:p>
            <a:r>
              <a:rPr lang="en-GB" dirty="0"/>
              <a:t>Why would I use Serverless?</a:t>
            </a:r>
          </a:p>
          <a:p>
            <a:r>
              <a:rPr lang="en-GB" dirty="0"/>
              <a:t>What each platform has to offer</a:t>
            </a:r>
          </a:p>
          <a:p>
            <a:r>
              <a:rPr lang="en-GB" dirty="0"/>
              <a:t>Key areas that they differ</a:t>
            </a:r>
          </a:p>
          <a:p>
            <a:r>
              <a:rPr lang="en-GB" dirty="0"/>
              <a:t>How to deploy to each one</a:t>
            </a:r>
          </a:p>
          <a:p>
            <a:r>
              <a:rPr lang="en-GB" dirty="0"/>
              <a:t>Additional services around them that could improve use of each</a:t>
            </a:r>
          </a:p>
          <a:p>
            <a:r>
              <a:rPr lang="en-GB" dirty="0"/>
              <a:t>Why you should choose one over the other</a:t>
            </a:r>
          </a:p>
          <a:p>
            <a:endParaRPr lang="en-GB" dirty="0"/>
          </a:p>
        </p:txBody>
      </p:sp>
      <p:sp>
        <p:nvSpPr>
          <p:cNvPr id="5" name="TextBox 4">
            <a:extLst>
              <a:ext uri="{FF2B5EF4-FFF2-40B4-BE49-F238E27FC236}">
                <a16:creationId xmlns:a16="http://schemas.microsoft.com/office/drawing/2014/main" id="{B49A675E-227E-491F-8457-210363725A75}"/>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3979511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F0341-492C-4043-9FB0-755A43422606}"/>
              </a:ext>
            </a:extLst>
          </p:cNvPr>
          <p:cNvSpPr>
            <a:spLocks noGrp="1"/>
          </p:cNvSpPr>
          <p:nvPr>
            <p:ph type="title"/>
          </p:nvPr>
        </p:nvSpPr>
        <p:spPr/>
        <p:txBody>
          <a:bodyPr/>
          <a:lstStyle/>
          <a:p>
            <a:r>
              <a:rPr lang="en-GB" dirty="0"/>
              <a:t>Serverless?</a:t>
            </a:r>
          </a:p>
        </p:txBody>
      </p:sp>
      <p:sp>
        <p:nvSpPr>
          <p:cNvPr id="3" name="Content Placeholder 2">
            <a:extLst>
              <a:ext uri="{FF2B5EF4-FFF2-40B4-BE49-F238E27FC236}">
                <a16:creationId xmlns:a16="http://schemas.microsoft.com/office/drawing/2014/main" id="{9562C6ED-88CB-4661-808C-697467CCCC8A}"/>
              </a:ext>
            </a:extLst>
          </p:cNvPr>
          <p:cNvSpPr>
            <a:spLocks noGrp="1"/>
          </p:cNvSpPr>
          <p:nvPr>
            <p:ph idx="1"/>
          </p:nvPr>
        </p:nvSpPr>
        <p:spPr/>
        <p:txBody>
          <a:bodyPr/>
          <a:lstStyle/>
          <a:p>
            <a:r>
              <a:rPr lang="en-GB" dirty="0"/>
              <a:t>Actually has servers involved</a:t>
            </a:r>
          </a:p>
          <a:p>
            <a:endParaRPr lang="en-GB" dirty="0"/>
          </a:p>
          <a:p>
            <a:r>
              <a:rPr lang="en-GB" dirty="0"/>
              <a:t>Different levels of abstraction away from the management of servers</a:t>
            </a:r>
          </a:p>
          <a:p>
            <a:pPr lvl="1"/>
            <a:r>
              <a:rPr lang="en-GB" dirty="0"/>
              <a:t>PaaS (Platform as a Service)</a:t>
            </a:r>
          </a:p>
          <a:p>
            <a:pPr lvl="1"/>
            <a:r>
              <a:rPr lang="en-GB" dirty="0" err="1"/>
              <a:t>FaaS</a:t>
            </a:r>
            <a:r>
              <a:rPr lang="en-GB" dirty="0"/>
              <a:t> (Function as a Service)</a:t>
            </a:r>
          </a:p>
          <a:p>
            <a:pPr lvl="1"/>
            <a:r>
              <a:rPr lang="en-GB" dirty="0"/>
              <a:t>SaaS (Software as a Service)</a:t>
            </a:r>
          </a:p>
          <a:p>
            <a:endParaRPr lang="en-GB" dirty="0"/>
          </a:p>
          <a:p>
            <a:r>
              <a:rPr lang="en-GB" dirty="0"/>
              <a:t>Further away from servers = good (mostly)</a:t>
            </a:r>
          </a:p>
        </p:txBody>
      </p:sp>
      <p:sp>
        <p:nvSpPr>
          <p:cNvPr id="5" name="TextBox 4">
            <a:extLst>
              <a:ext uri="{FF2B5EF4-FFF2-40B4-BE49-F238E27FC236}">
                <a16:creationId xmlns:a16="http://schemas.microsoft.com/office/drawing/2014/main" id="{47B8260C-C47C-49C5-99A9-4DBD2EAD7236}"/>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192483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6CBB9-8866-45D5-9171-3E3045398C6A}"/>
              </a:ext>
            </a:extLst>
          </p:cNvPr>
          <p:cNvSpPr>
            <a:spLocks noGrp="1"/>
          </p:cNvSpPr>
          <p:nvPr>
            <p:ph type="title"/>
          </p:nvPr>
        </p:nvSpPr>
        <p:spPr/>
        <p:txBody>
          <a:bodyPr/>
          <a:lstStyle/>
          <a:p>
            <a:r>
              <a:rPr lang="en-GB" dirty="0"/>
              <a:t>Why would I use Serverless?</a:t>
            </a:r>
          </a:p>
        </p:txBody>
      </p:sp>
      <p:sp>
        <p:nvSpPr>
          <p:cNvPr id="3" name="Content Placeholder 2">
            <a:extLst>
              <a:ext uri="{FF2B5EF4-FFF2-40B4-BE49-F238E27FC236}">
                <a16:creationId xmlns:a16="http://schemas.microsoft.com/office/drawing/2014/main" id="{0A077CC4-80D0-4FC8-AD8E-864816B3B42F}"/>
              </a:ext>
            </a:extLst>
          </p:cNvPr>
          <p:cNvSpPr>
            <a:spLocks noGrp="1"/>
          </p:cNvSpPr>
          <p:nvPr>
            <p:ph idx="1"/>
          </p:nvPr>
        </p:nvSpPr>
        <p:spPr/>
        <p:txBody>
          <a:bodyPr/>
          <a:lstStyle/>
          <a:p>
            <a:r>
              <a:rPr lang="en-GB" dirty="0"/>
              <a:t>Don’t need to manage servers or most of the other infrastructure</a:t>
            </a:r>
          </a:p>
          <a:p>
            <a:endParaRPr lang="en-GB" dirty="0"/>
          </a:p>
          <a:p>
            <a:r>
              <a:rPr lang="en-GB" dirty="0"/>
              <a:t>Elastic scaling is often easier to configure (non-SaaS)</a:t>
            </a:r>
          </a:p>
          <a:p>
            <a:endParaRPr lang="en-GB" dirty="0"/>
          </a:p>
          <a:p>
            <a:r>
              <a:rPr lang="en-GB" dirty="0"/>
              <a:t>Often cheaper overall*</a:t>
            </a:r>
          </a:p>
        </p:txBody>
      </p:sp>
      <p:sp>
        <p:nvSpPr>
          <p:cNvPr id="4" name="TextBox 3">
            <a:extLst>
              <a:ext uri="{FF2B5EF4-FFF2-40B4-BE49-F238E27FC236}">
                <a16:creationId xmlns:a16="http://schemas.microsoft.com/office/drawing/2014/main" id="{8C017FF0-8160-4FBB-8EE1-1BADE73228BF}"/>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152880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F95C-2553-417A-B1C0-5F342109FC02}"/>
              </a:ext>
            </a:extLst>
          </p:cNvPr>
          <p:cNvSpPr>
            <a:spLocks noGrp="1"/>
          </p:cNvSpPr>
          <p:nvPr>
            <p:ph type="title"/>
          </p:nvPr>
        </p:nvSpPr>
        <p:spPr/>
        <p:txBody>
          <a:bodyPr/>
          <a:lstStyle/>
          <a:p>
            <a:r>
              <a:rPr lang="en-GB" dirty="0"/>
              <a:t>Why would I use Serverless (</a:t>
            </a:r>
            <a:r>
              <a:rPr lang="en-GB" dirty="0" err="1"/>
              <a:t>FaaS</a:t>
            </a:r>
            <a:r>
              <a:rPr lang="en-GB" dirty="0"/>
              <a:t>)?</a:t>
            </a:r>
          </a:p>
        </p:txBody>
      </p:sp>
      <p:sp>
        <p:nvSpPr>
          <p:cNvPr id="3" name="Content Placeholder 2">
            <a:extLst>
              <a:ext uri="{FF2B5EF4-FFF2-40B4-BE49-F238E27FC236}">
                <a16:creationId xmlns:a16="http://schemas.microsoft.com/office/drawing/2014/main" id="{110F7586-9D05-4117-9E01-03455F9A9959}"/>
              </a:ext>
            </a:extLst>
          </p:cNvPr>
          <p:cNvSpPr>
            <a:spLocks noGrp="1"/>
          </p:cNvSpPr>
          <p:nvPr>
            <p:ph idx="1"/>
          </p:nvPr>
        </p:nvSpPr>
        <p:spPr/>
        <p:txBody>
          <a:bodyPr/>
          <a:lstStyle/>
          <a:p>
            <a:r>
              <a:rPr lang="en-GB" dirty="0"/>
              <a:t>Event based workload that doesn’t (shouldn’t) require constant compute resources</a:t>
            </a:r>
          </a:p>
          <a:p>
            <a:endParaRPr lang="en-GB" dirty="0"/>
          </a:p>
          <a:p>
            <a:r>
              <a:rPr lang="en-GB" dirty="0"/>
              <a:t>Small single purpose resources so are easier to maintain</a:t>
            </a:r>
          </a:p>
          <a:p>
            <a:endParaRPr lang="en-GB" dirty="0"/>
          </a:p>
          <a:p>
            <a:r>
              <a:rPr lang="en-GB" dirty="0"/>
              <a:t>Very low cost based on usage, often with a free allowance per month</a:t>
            </a:r>
          </a:p>
        </p:txBody>
      </p:sp>
      <p:sp>
        <p:nvSpPr>
          <p:cNvPr id="4" name="TextBox 3">
            <a:extLst>
              <a:ext uri="{FF2B5EF4-FFF2-40B4-BE49-F238E27FC236}">
                <a16:creationId xmlns:a16="http://schemas.microsoft.com/office/drawing/2014/main" id="{4C35D8D9-F143-43F4-9A02-F0B6DCC779E7}"/>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171228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736E-6025-408B-BC40-6B973F3F21A8}"/>
              </a:ext>
            </a:extLst>
          </p:cNvPr>
          <p:cNvSpPr>
            <a:spLocks noGrp="1"/>
          </p:cNvSpPr>
          <p:nvPr>
            <p:ph type="title"/>
          </p:nvPr>
        </p:nvSpPr>
        <p:spPr/>
        <p:txBody>
          <a:bodyPr/>
          <a:lstStyle/>
          <a:p>
            <a:r>
              <a:rPr lang="en-GB" dirty="0"/>
              <a:t>Show me what you got: Azure Functions</a:t>
            </a:r>
          </a:p>
        </p:txBody>
      </p:sp>
      <p:sp>
        <p:nvSpPr>
          <p:cNvPr id="3" name="Content Placeholder 2">
            <a:extLst>
              <a:ext uri="{FF2B5EF4-FFF2-40B4-BE49-F238E27FC236}">
                <a16:creationId xmlns:a16="http://schemas.microsoft.com/office/drawing/2014/main" id="{7F3A960D-4BDA-4271-9C45-7EA493F733E5}"/>
              </a:ext>
            </a:extLst>
          </p:cNvPr>
          <p:cNvSpPr>
            <a:spLocks noGrp="1"/>
          </p:cNvSpPr>
          <p:nvPr>
            <p:ph idx="1"/>
          </p:nvPr>
        </p:nvSpPr>
        <p:spPr>
          <a:xfrm>
            <a:off x="838200" y="1825625"/>
            <a:ext cx="5022011" cy="4351338"/>
          </a:xfrm>
        </p:spPr>
        <p:txBody>
          <a:bodyPr>
            <a:normAutofit/>
          </a:bodyPr>
          <a:lstStyle/>
          <a:p>
            <a:r>
              <a:rPr lang="en-GB" dirty="0"/>
              <a:t>Currently PS 6 but 7 on the way</a:t>
            </a:r>
          </a:p>
          <a:p>
            <a:r>
              <a:rPr lang="en-GB" dirty="0"/>
              <a:t>Triggers:</a:t>
            </a:r>
          </a:p>
          <a:p>
            <a:pPr lvl="1"/>
            <a:r>
              <a:rPr lang="en-GB" dirty="0"/>
              <a:t>HTTP</a:t>
            </a:r>
          </a:p>
          <a:p>
            <a:pPr lvl="1"/>
            <a:r>
              <a:rPr lang="en-GB" dirty="0"/>
              <a:t>Timer</a:t>
            </a:r>
          </a:p>
          <a:p>
            <a:pPr lvl="1"/>
            <a:r>
              <a:rPr lang="en-GB" dirty="0"/>
              <a:t>Storage Queue/Blob</a:t>
            </a:r>
          </a:p>
          <a:p>
            <a:pPr lvl="1"/>
            <a:r>
              <a:rPr lang="en-GB" dirty="0"/>
              <a:t>Service Bus Queue/Topic</a:t>
            </a:r>
          </a:p>
          <a:p>
            <a:pPr lvl="1"/>
            <a:r>
              <a:rPr lang="en-GB" dirty="0"/>
              <a:t>Event Hub/Grid</a:t>
            </a:r>
          </a:p>
          <a:p>
            <a:pPr lvl="1"/>
            <a:r>
              <a:rPr lang="en-GB" dirty="0"/>
              <a:t>Cosmos DB</a:t>
            </a:r>
          </a:p>
          <a:p>
            <a:pPr lvl="1"/>
            <a:r>
              <a:rPr lang="en-GB" dirty="0"/>
              <a:t>IoT Hub</a:t>
            </a:r>
          </a:p>
          <a:p>
            <a:pPr lvl="1"/>
            <a:r>
              <a:rPr lang="en-GB" dirty="0"/>
              <a:t>SendGrid</a:t>
            </a:r>
          </a:p>
          <a:p>
            <a:pPr lvl="1"/>
            <a:r>
              <a:rPr lang="en-GB" dirty="0" err="1"/>
              <a:t>SignalR</a:t>
            </a:r>
            <a:r>
              <a:rPr lang="en-GB" dirty="0"/>
              <a:t> HTTP</a:t>
            </a:r>
          </a:p>
          <a:p>
            <a:pPr lvl="1"/>
            <a:endParaRPr lang="en-GB" dirty="0"/>
          </a:p>
        </p:txBody>
      </p:sp>
      <p:sp>
        <p:nvSpPr>
          <p:cNvPr id="4" name="TextBox 3">
            <a:extLst>
              <a:ext uri="{FF2B5EF4-FFF2-40B4-BE49-F238E27FC236}">
                <a16:creationId xmlns:a16="http://schemas.microsoft.com/office/drawing/2014/main" id="{6F0EC766-8948-498A-84B3-5F17814560FC}"/>
              </a:ext>
            </a:extLst>
          </p:cNvPr>
          <p:cNvSpPr txBox="1"/>
          <p:nvPr/>
        </p:nvSpPr>
        <p:spPr>
          <a:xfrm>
            <a:off x="6498566" y="1825624"/>
            <a:ext cx="4855234" cy="4893647"/>
          </a:xfrm>
          <a:prstGeom prst="rect">
            <a:avLst/>
          </a:prstGeom>
          <a:noFill/>
        </p:spPr>
        <p:txBody>
          <a:bodyPr wrap="square" rtlCol="0">
            <a:spAutoFit/>
          </a:bodyPr>
          <a:lstStyle/>
          <a:p>
            <a:pPr marL="285750" indent="-285750">
              <a:buFont typeface="Arial" panose="020B0604020202020204" pitchFamily="34" charset="0"/>
              <a:buChar char="•"/>
            </a:pPr>
            <a:r>
              <a:rPr lang="en-GB" sz="2400" dirty="0"/>
              <a:t>Authorization:</a:t>
            </a:r>
          </a:p>
          <a:p>
            <a:pPr marL="742950" lvl="1" indent="-285750">
              <a:buFont typeface="Arial" panose="020B0604020202020204" pitchFamily="34" charset="0"/>
              <a:buChar char="•"/>
            </a:pPr>
            <a:r>
              <a:rPr lang="en-GB" sz="2400" dirty="0"/>
              <a:t>Function</a:t>
            </a:r>
          </a:p>
          <a:p>
            <a:pPr marL="742950" lvl="1" indent="-285750">
              <a:buFont typeface="Arial" panose="020B0604020202020204" pitchFamily="34" charset="0"/>
              <a:buChar char="•"/>
            </a:pPr>
            <a:r>
              <a:rPr lang="en-GB" sz="2400" dirty="0"/>
              <a:t>Anonymous</a:t>
            </a:r>
          </a:p>
          <a:p>
            <a:pPr marL="742950" lvl="1" indent="-285750">
              <a:buFont typeface="Arial" panose="020B0604020202020204" pitchFamily="34" charset="0"/>
              <a:buChar char="•"/>
            </a:pPr>
            <a:r>
              <a:rPr lang="en-GB" sz="2400" dirty="0"/>
              <a:t>Admin</a:t>
            </a:r>
          </a:p>
          <a:p>
            <a:pPr marL="285750" indent="-285750">
              <a:buFont typeface="Arial" panose="020B0604020202020204" pitchFamily="34" charset="0"/>
              <a:buChar char="•"/>
            </a:pPr>
            <a:r>
              <a:rPr lang="en-GB" sz="2400" dirty="0"/>
              <a:t>Outputs:</a:t>
            </a:r>
          </a:p>
          <a:p>
            <a:pPr marL="742950" lvl="1" indent="-285750">
              <a:buFont typeface="Arial" panose="020B0604020202020204" pitchFamily="34" charset="0"/>
              <a:buChar char="•"/>
            </a:pPr>
            <a:r>
              <a:rPr lang="en-GB" sz="2400" dirty="0"/>
              <a:t>HTTP</a:t>
            </a:r>
          </a:p>
          <a:p>
            <a:pPr marL="742950" lvl="1" indent="-285750">
              <a:buFont typeface="Arial" panose="020B0604020202020204" pitchFamily="34" charset="0"/>
              <a:buChar char="•"/>
            </a:pPr>
            <a:r>
              <a:rPr lang="en-GB" sz="2400" dirty="0"/>
              <a:t>Storage Queue/Blob/Table</a:t>
            </a:r>
          </a:p>
          <a:p>
            <a:pPr marL="742950" lvl="1" indent="-285750">
              <a:buFont typeface="Arial" panose="020B0604020202020204" pitchFamily="34" charset="0"/>
              <a:buChar char="•"/>
            </a:pPr>
            <a:r>
              <a:rPr lang="en-GB" sz="2400" dirty="0"/>
              <a:t>Service Bus</a:t>
            </a:r>
          </a:p>
          <a:p>
            <a:pPr marL="742950" lvl="1" indent="-285750">
              <a:buFont typeface="Arial" panose="020B0604020202020204" pitchFamily="34" charset="0"/>
              <a:buChar char="•"/>
            </a:pPr>
            <a:r>
              <a:rPr lang="en-GB" sz="2400" dirty="0"/>
              <a:t>Event Hub</a:t>
            </a:r>
          </a:p>
          <a:p>
            <a:pPr marL="742950" lvl="1" indent="-285750">
              <a:buFont typeface="Arial" panose="020B0604020202020204" pitchFamily="34" charset="0"/>
              <a:buChar char="•"/>
            </a:pPr>
            <a:r>
              <a:rPr lang="en-GB" sz="2400" dirty="0"/>
              <a:t>SendGrid/</a:t>
            </a:r>
            <a:r>
              <a:rPr lang="en-GB" sz="2400" dirty="0" err="1"/>
              <a:t>Twillio</a:t>
            </a:r>
            <a:endParaRPr lang="en-GB" sz="2400" dirty="0"/>
          </a:p>
          <a:p>
            <a:pPr marL="742950" lvl="1" indent="-285750">
              <a:buFont typeface="Arial" panose="020B0604020202020204" pitchFamily="34" charset="0"/>
              <a:buChar char="•"/>
            </a:pPr>
            <a:r>
              <a:rPr lang="en-GB" sz="2400" dirty="0"/>
              <a:t>Cosmos DB</a:t>
            </a:r>
          </a:p>
          <a:p>
            <a:pPr marL="742950" lvl="1" indent="-285750">
              <a:buFont typeface="Arial" panose="020B0604020202020204" pitchFamily="34" charset="0"/>
              <a:buChar char="•"/>
            </a:pPr>
            <a:r>
              <a:rPr lang="en-GB" sz="2400" dirty="0" err="1"/>
              <a:t>SignalR</a:t>
            </a:r>
            <a:endParaRPr lang="en-GB" sz="2400" dirty="0"/>
          </a:p>
          <a:p>
            <a:endParaRPr lang="en-GB" sz="2400" dirty="0"/>
          </a:p>
        </p:txBody>
      </p:sp>
      <p:sp>
        <p:nvSpPr>
          <p:cNvPr id="5" name="TextBox 4">
            <a:extLst>
              <a:ext uri="{FF2B5EF4-FFF2-40B4-BE49-F238E27FC236}">
                <a16:creationId xmlns:a16="http://schemas.microsoft.com/office/drawing/2014/main" id="{D3DB3508-28FF-467F-9078-FEB2DB7C92CB}"/>
              </a:ext>
            </a:extLst>
          </p:cNvPr>
          <p:cNvSpPr txBox="1"/>
          <p:nvPr/>
        </p:nvSpPr>
        <p:spPr>
          <a:xfrm>
            <a:off x="3349205" y="6450429"/>
            <a:ext cx="11559396" cy="369332"/>
          </a:xfrm>
          <a:prstGeom prst="rect">
            <a:avLst/>
          </a:prstGeom>
          <a:noFill/>
        </p:spPr>
        <p:txBody>
          <a:bodyPr wrap="square" rtlCol="0">
            <a:spAutoFit/>
          </a:bodyPr>
          <a:lstStyle/>
          <a:p>
            <a:r>
              <a:rPr lang="en-GB" dirty="0"/>
              <a:t>More information: </a:t>
            </a:r>
            <a:r>
              <a:rPr lang="en-GB" dirty="0">
                <a:hlinkClick r:id="rId2"/>
              </a:rPr>
              <a:t>https://docs.com/en-us/azure/azure-functions/functions-triggers-bindings</a:t>
            </a:r>
            <a:endParaRPr lang="en-GB" dirty="0"/>
          </a:p>
        </p:txBody>
      </p:sp>
      <p:sp>
        <p:nvSpPr>
          <p:cNvPr id="7" name="TextBox 6">
            <a:extLst>
              <a:ext uri="{FF2B5EF4-FFF2-40B4-BE49-F238E27FC236}">
                <a16:creationId xmlns:a16="http://schemas.microsoft.com/office/drawing/2014/main" id="{C3F3BB37-9CCC-4E71-B9C2-E015065E04E5}"/>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2228592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9D99-7EE8-4EF8-9915-5D0CE0C9BA92}"/>
              </a:ext>
            </a:extLst>
          </p:cNvPr>
          <p:cNvSpPr>
            <a:spLocks noGrp="1"/>
          </p:cNvSpPr>
          <p:nvPr>
            <p:ph type="title"/>
          </p:nvPr>
        </p:nvSpPr>
        <p:spPr/>
        <p:txBody>
          <a:bodyPr/>
          <a:lstStyle/>
          <a:p>
            <a:r>
              <a:rPr lang="en-GB" dirty="0"/>
              <a:t>DEMO</a:t>
            </a:r>
          </a:p>
        </p:txBody>
      </p:sp>
      <p:sp>
        <p:nvSpPr>
          <p:cNvPr id="3" name="Content Placeholder 2">
            <a:extLst>
              <a:ext uri="{FF2B5EF4-FFF2-40B4-BE49-F238E27FC236}">
                <a16:creationId xmlns:a16="http://schemas.microsoft.com/office/drawing/2014/main" id="{F00FF415-D896-4918-BEC4-71C5538C5691}"/>
              </a:ext>
            </a:extLst>
          </p:cNvPr>
          <p:cNvSpPr>
            <a:spLocks noGrp="1"/>
          </p:cNvSpPr>
          <p:nvPr>
            <p:ph idx="1"/>
          </p:nvPr>
        </p:nvSpPr>
        <p:spPr/>
        <p:txBody>
          <a:bodyPr/>
          <a:lstStyle/>
          <a:p>
            <a:endParaRPr lang="en-GB"/>
          </a:p>
        </p:txBody>
      </p:sp>
      <p:sp>
        <p:nvSpPr>
          <p:cNvPr id="4" name="TextBox 3">
            <a:extLst>
              <a:ext uri="{FF2B5EF4-FFF2-40B4-BE49-F238E27FC236}">
                <a16:creationId xmlns:a16="http://schemas.microsoft.com/office/drawing/2014/main" id="{83AD5852-9DDE-436D-9125-39FBE29FB59C}"/>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3041583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2B74A-FC71-4532-AD56-90639D3A77CE}"/>
              </a:ext>
            </a:extLst>
          </p:cNvPr>
          <p:cNvSpPr>
            <a:spLocks noGrp="1"/>
          </p:cNvSpPr>
          <p:nvPr>
            <p:ph type="title"/>
          </p:nvPr>
        </p:nvSpPr>
        <p:spPr/>
        <p:txBody>
          <a:bodyPr/>
          <a:lstStyle/>
          <a:p>
            <a:r>
              <a:rPr lang="en-GB" dirty="0"/>
              <a:t>Show me what you got: AWS Lambda</a:t>
            </a:r>
          </a:p>
        </p:txBody>
      </p:sp>
      <p:sp>
        <p:nvSpPr>
          <p:cNvPr id="3" name="Content Placeholder 2">
            <a:extLst>
              <a:ext uri="{FF2B5EF4-FFF2-40B4-BE49-F238E27FC236}">
                <a16:creationId xmlns:a16="http://schemas.microsoft.com/office/drawing/2014/main" id="{F19F88ED-4720-4B0E-98A2-D4BC5F65717D}"/>
              </a:ext>
            </a:extLst>
          </p:cNvPr>
          <p:cNvSpPr>
            <a:spLocks noGrp="1"/>
          </p:cNvSpPr>
          <p:nvPr>
            <p:ph idx="1"/>
          </p:nvPr>
        </p:nvSpPr>
        <p:spPr>
          <a:xfrm>
            <a:off x="838200" y="1825625"/>
            <a:ext cx="5723626" cy="4351338"/>
          </a:xfrm>
        </p:spPr>
        <p:txBody>
          <a:bodyPr>
            <a:normAutofit fontScale="92500" lnSpcReduction="20000"/>
          </a:bodyPr>
          <a:lstStyle/>
          <a:p>
            <a:r>
              <a:rPr lang="en-GB" dirty="0"/>
              <a:t>Supports PS 6 and 7</a:t>
            </a:r>
          </a:p>
          <a:p>
            <a:r>
              <a:rPr lang="en-GB" dirty="0"/>
              <a:t>Triggers:</a:t>
            </a:r>
          </a:p>
          <a:p>
            <a:pPr lvl="1"/>
            <a:r>
              <a:rPr lang="en-GB" dirty="0" err="1"/>
              <a:t>Api</a:t>
            </a:r>
            <a:r>
              <a:rPr lang="en-GB" dirty="0"/>
              <a:t> Gateway (HTTP)</a:t>
            </a:r>
          </a:p>
          <a:p>
            <a:pPr lvl="1"/>
            <a:r>
              <a:rPr lang="en-GB" dirty="0"/>
              <a:t>AWS IoT</a:t>
            </a:r>
          </a:p>
          <a:p>
            <a:pPr lvl="1"/>
            <a:r>
              <a:rPr lang="en-GB" dirty="0"/>
              <a:t>Alexa Skills Kit</a:t>
            </a:r>
          </a:p>
          <a:p>
            <a:pPr lvl="1"/>
            <a:r>
              <a:rPr lang="en-GB" dirty="0"/>
              <a:t>App Load Balancer</a:t>
            </a:r>
          </a:p>
          <a:p>
            <a:pPr lvl="1"/>
            <a:r>
              <a:rPr lang="en-GB" dirty="0"/>
              <a:t>CloudWatch Events/Logs (timer and more)</a:t>
            </a:r>
          </a:p>
          <a:p>
            <a:pPr lvl="1"/>
            <a:r>
              <a:rPr lang="en-GB" dirty="0"/>
              <a:t>Code Commit</a:t>
            </a:r>
          </a:p>
          <a:p>
            <a:pPr lvl="1"/>
            <a:r>
              <a:rPr lang="en-GB" dirty="0"/>
              <a:t>Cognito Sync </a:t>
            </a:r>
          </a:p>
          <a:p>
            <a:pPr lvl="1"/>
            <a:r>
              <a:rPr lang="en-GB" dirty="0"/>
              <a:t>DynamoDB</a:t>
            </a:r>
          </a:p>
          <a:p>
            <a:pPr lvl="1"/>
            <a:r>
              <a:rPr lang="en-GB" dirty="0"/>
              <a:t>Kinesis</a:t>
            </a:r>
          </a:p>
          <a:p>
            <a:pPr lvl="1"/>
            <a:r>
              <a:rPr lang="en-GB" dirty="0"/>
              <a:t>S3</a:t>
            </a:r>
          </a:p>
          <a:p>
            <a:pPr lvl="1"/>
            <a:r>
              <a:rPr lang="en-GB" dirty="0"/>
              <a:t>SNS</a:t>
            </a:r>
          </a:p>
          <a:p>
            <a:pPr lvl="1"/>
            <a:r>
              <a:rPr lang="en-GB" dirty="0"/>
              <a:t>SQS</a:t>
            </a:r>
          </a:p>
          <a:p>
            <a:pPr lvl="1"/>
            <a:r>
              <a:rPr lang="en-GB" dirty="0"/>
              <a:t>Various partners via </a:t>
            </a:r>
            <a:r>
              <a:rPr lang="en-GB" dirty="0" err="1"/>
              <a:t>EventBridge</a:t>
            </a:r>
            <a:endParaRPr lang="en-GB" dirty="0"/>
          </a:p>
        </p:txBody>
      </p:sp>
      <p:sp>
        <p:nvSpPr>
          <p:cNvPr id="5" name="TextBox 4">
            <a:extLst>
              <a:ext uri="{FF2B5EF4-FFF2-40B4-BE49-F238E27FC236}">
                <a16:creationId xmlns:a16="http://schemas.microsoft.com/office/drawing/2014/main" id="{F27DDF9F-1924-4735-B741-A7D171BDF0F5}"/>
              </a:ext>
            </a:extLst>
          </p:cNvPr>
          <p:cNvSpPr txBox="1"/>
          <p:nvPr/>
        </p:nvSpPr>
        <p:spPr>
          <a:xfrm>
            <a:off x="6400800" y="1690688"/>
            <a:ext cx="5584166" cy="2308324"/>
          </a:xfrm>
          <a:prstGeom prst="rect">
            <a:avLst/>
          </a:prstGeom>
          <a:noFill/>
        </p:spPr>
        <p:txBody>
          <a:bodyPr wrap="square" rtlCol="0">
            <a:spAutoFit/>
          </a:bodyPr>
          <a:lstStyle/>
          <a:p>
            <a:pPr marL="285750" indent="-285750">
              <a:buFont typeface="Arial" panose="020B0604020202020204" pitchFamily="34" charset="0"/>
              <a:buChar char="•"/>
            </a:pPr>
            <a:r>
              <a:rPr lang="en-GB" dirty="0"/>
              <a:t>Outputs:</a:t>
            </a:r>
          </a:p>
          <a:p>
            <a:pPr marL="742950" lvl="1" indent="-285750">
              <a:buFont typeface="Arial" panose="020B0604020202020204" pitchFamily="34" charset="0"/>
              <a:buChar char="•"/>
            </a:pPr>
            <a:r>
              <a:rPr lang="en-GB" dirty="0"/>
              <a:t>SNS</a:t>
            </a:r>
          </a:p>
          <a:p>
            <a:pPr marL="742950" lvl="1" indent="-285750">
              <a:buFont typeface="Arial" panose="020B0604020202020204" pitchFamily="34" charset="0"/>
              <a:buChar char="•"/>
            </a:pPr>
            <a:r>
              <a:rPr lang="en-GB" dirty="0"/>
              <a:t>SQS</a:t>
            </a:r>
          </a:p>
          <a:p>
            <a:pPr marL="742950" lvl="1" indent="-285750">
              <a:buFont typeface="Arial" panose="020B0604020202020204" pitchFamily="34" charset="0"/>
              <a:buChar char="•"/>
            </a:pPr>
            <a:r>
              <a:rPr lang="en-GB" dirty="0"/>
              <a:t>Lambda</a:t>
            </a:r>
          </a:p>
          <a:p>
            <a:pPr marL="742950" lvl="1" indent="-285750">
              <a:buFont typeface="Arial" panose="020B0604020202020204" pitchFamily="34" charset="0"/>
              <a:buChar char="•"/>
            </a:pPr>
            <a:r>
              <a:rPr lang="en-GB" dirty="0" err="1"/>
              <a:t>EventBridge</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Layers</a:t>
            </a:r>
          </a:p>
          <a:p>
            <a:endParaRPr lang="en-GB" dirty="0"/>
          </a:p>
        </p:txBody>
      </p:sp>
      <p:sp>
        <p:nvSpPr>
          <p:cNvPr id="6" name="TextBox 5">
            <a:extLst>
              <a:ext uri="{FF2B5EF4-FFF2-40B4-BE49-F238E27FC236}">
                <a16:creationId xmlns:a16="http://schemas.microsoft.com/office/drawing/2014/main" id="{6DBA3504-F301-4A75-95AC-8AD22AACBA2B}"/>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3954670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031A-C0CC-4D53-BF49-2A66689BB201}"/>
              </a:ext>
            </a:extLst>
          </p:cNvPr>
          <p:cNvSpPr>
            <a:spLocks noGrp="1"/>
          </p:cNvSpPr>
          <p:nvPr>
            <p:ph type="title"/>
          </p:nvPr>
        </p:nvSpPr>
        <p:spPr/>
        <p:txBody>
          <a:bodyPr/>
          <a:lstStyle/>
          <a:p>
            <a:r>
              <a:rPr lang="en-GB" dirty="0"/>
              <a:t>DEMO</a:t>
            </a:r>
          </a:p>
        </p:txBody>
      </p:sp>
      <p:sp>
        <p:nvSpPr>
          <p:cNvPr id="3" name="Content Placeholder 2">
            <a:extLst>
              <a:ext uri="{FF2B5EF4-FFF2-40B4-BE49-F238E27FC236}">
                <a16:creationId xmlns:a16="http://schemas.microsoft.com/office/drawing/2014/main" id="{33234A18-2E3B-4B1A-A686-1B178F86B5B0}"/>
              </a:ext>
            </a:extLst>
          </p:cNvPr>
          <p:cNvSpPr>
            <a:spLocks noGrp="1"/>
          </p:cNvSpPr>
          <p:nvPr>
            <p:ph idx="1"/>
          </p:nvPr>
        </p:nvSpPr>
        <p:spPr/>
        <p:txBody>
          <a:bodyPr/>
          <a:lstStyle/>
          <a:p>
            <a:endParaRPr lang="en-GB"/>
          </a:p>
        </p:txBody>
      </p:sp>
      <p:sp>
        <p:nvSpPr>
          <p:cNvPr id="4" name="TextBox 3">
            <a:extLst>
              <a:ext uri="{FF2B5EF4-FFF2-40B4-BE49-F238E27FC236}">
                <a16:creationId xmlns:a16="http://schemas.microsoft.com/office/drawing/2014/main" id="{2C2F4252-50B5-41C9-920A-D8F12D1A5F98}"/>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1145267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2D690-B7F0-403A-BE9A-1581F46B4969}"/>
              </a:ext>
            </a:extLst>
          </p:cNvPr>
          <p:cNvSpPr>
            <a:spLocks noGrp="1"/>
          </p:cNvSpPr>
          <p:nvPr>
            <p:ph type="title"/>
          </p:nvPr>
        </p:nvSpPr>
        <p:spPr/>
        <p:txBody>
          <a:bodyPr/>
          <a:lstStyle/>
          <a:p>
            <a:r>
              <a:rPr lang="en-GB" dirty="0"/>
              <a:t>Spot the Difference</a:t>
            </a:r>
          </a:p>
        </p:txBody>
      </p:sp>
      <p:sp>
        <p:nvSpPr>
          <p:cNvPr id="3" name="Content Placeholder 2">
            <a:extLst>
              <a:ext uri="{FF2B5EF4-FFF2-40B4-BE49-F238E27FC236}">
                <a16:creationId xmlns:a16="http://schemas.microsoft.com/office/drawing/2014/main" id="{946D45F6-32E6-442A-85EA-88208E243333}"/>
              </a:ext>
            </a:extLst>
          </p:cNvPr>
          <p:cNvSpPr>
            <a:spLocks noGrp="1"/>
          </p:cNvSpPr>
          <p:nvPr>
            <p:ph idx="1"/>
          </p:nvPr>
        </p:nvSpPr>
        <p:spPr/>
        <p:txBody>
          <a:bodyPr/>
          <a:lstStyle/>
          <a:p>
            <a:r>
              <a:rPr lang="en-GB" dirty="0"/>
              <a:t>Lambda doesn’t natively support HTTP triggers (requires API Gateway)</a:t>
            </a:r>
          </a:p>
          <a:p>
            <a:endParaRPr lang="en-GB" dirty="0"/>
          </a:p>
          <a:p>
            <a:r>
              <a:rPr lang="en-GB" dirty="0"/>
              <a:t>Multiple functions in a single Function App vs 1 Lambda</a:t>
            </a:r>
          </a:p>
          <a:p>
            <a:endParaRPr lang="en-GB" dirty="0"/>
          </a:p>
          <a:p>
            <a:r>
              <a:rPr lang="en-GB" dirty="0"/>
              <a:t>Local testing on Azure Functions</a:t>
            </a:r>
          </a:p>
        </p:txBody>
      </p:sp>
      <p:sp>
        <p:nvSpPr>
          <p:cNvPr id="5" name="TextBox 4">
            <a:extLst>
              <a:ext uri="{FF2B5EF4-FFF2-40B4-BE49-F238E27FC236}">
                <a16:creationId xmlns:a16="http://schemas.microsoft.com/office/drawing/2014/main" id="{6A1C8455-885B-4DEC-92B6-FCBFC03E3F9A}"/>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97418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866E-B71E-4ED6-A30B-24CA49AE7690}"/>
              </a:ext>
            </a:extLst>
          </p:cNvPr>
          <p:cNvSpPr>
            <a:spLocks noGrp="1"/>
          </p:cNvSpPr>
          <p:nvPr>
            <p:ph type="title"/>
          </p:nvPr>
        </p:nvSpPr>
        <p:spPr/>
        <p:txBody>
          <a:bodyPr/>
          <a:lstStyle/>
          <a:p>
            <a:r>
              <a:rPr lang="en-GB" dirty="0"/>
              <a:t>Deployment: Azure Functions</a:t>
            </a:r>
          </a:p>
        </p:txBody>
      </p:sp>
      <p:sp>
        <p:nvSpPr>
          <p:cNvPr id="3" name="Content Placeholder 2">
            <a:extLst>
              <a:ext uri="{FF2B5EF4-FFF2-40B4-BE49-F238E27FC236}">
                <a16:creationId xmlns:a16="http://schemas.microsoft.com/office/drawing/2014/main" id="{617C365B-668A-47A7-8D79-B2DE1BD2A712}"/>
              </a:ext>
            </a:extLst>
          </p:cNvPr>
          <p:cNvSpPr>
            <a:spLocks noGrp="1"/>
          </p:cNvSpPr>
          <p:nvPr>
            <p:ph idx="1"/>
          </p:nvPr>
        </p:nvSpPr>
        <p:spPr/>
        <p:txBody>
          <a:bodyPr/>
          <a:lstStyle/>
          <a:p>
            <a:r>
              <a:rPr lang="en-GB" dirty="0"/>
              <a:t>Portal</a:t>
            </a:r>
          </a:p>
          <a:p>
            <a:r>
              <a:rPr lang="en-GB" dirty="0"/>
              <a:t>VS Code – Azure Functions extension</a:t>
            </a:r>
          </a:p>
          <a:p>
            <a:r>
              <a:rPr lang="en-GB" dirty="0"/>
              <a:t>CLI – Az PowerShell or Az CLI</a:t>
            </a:r>
          </a:p>
          <a:p>
            <a:endParaRPr lang="en-GB" dirty="0"/>
          </a:p>
          <a:p>
            <a:r>
              <a:rPr lang="en-GB" dirty="0"/>
              <a:t>ARM/Terraform Templates (but really don’t)</a:t>
            </a:r>
          </a:p>
          <a:p>
            <a:endParaRPr lang="en-GB" dirty="0"/>
          </a:p>
          <a:p>
            <a:endParaRPr lang="en-GB" dirty="0"/>
          </a:p>
        </p:txBody>
      </p:sp>
      <p:sp>
        <p:nvSpPr>
          <p:cNvPr id="5" name="TextBox 4">
            <a:extLst>
              <a:ext uri="{FF2B5EF4-FFF2-40B4-BE49-F238E27FC236}">
                <a16:creationId xmlns:a16="http://schemas.microsoft.com/office/drawing/2014/main" id="{62FC794C-4C61-4E44-A94B-B3570F4EE3F7}"/>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127418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51FB3-11BD-4CBD-8B37-39EF19B9F6DB}"/>
              </a:ext>
            </a:extLst>
          </p:cNvPr>
          <p:cNvSpPr>
            <a:spLocks noGrp="1"/>
          </p:cNvSpPr>
          <p:nvPr>
            <p:ph type="title"/>
          </p:nvPr>
        </p:nvSpPr>
        <p:spPr/>
        <p:txBody>
          <a:bodyPr/>
          <a:lstStyle/>
          <a:p>
            <a:r>
              <a:rPr lang="en-GB" dirty="0"/>
              <a:t>Deployment: AWS Lambda</a:t>
            </a:r>
          </a:p>
        </p:txBody>
      </p:sp>
      <p:sp>
        <p:nvSpPr>
          <p:cNvPr id="3" name="Content Placeholder 2">
            <a:extLst>
              <a:ext uri="{FF2B5EF4-FFF2-40B4-BE49-F238E27FC236}">
                <a16:creationId xmlns:a16="http://schemas.microsoft.com/office/drawing/2014/main" id="{61CF97AC-A9F1-4B1D-B972-8AB320C8053F}"/>
              </a:ext>
            </a:extLst>
          </p:cNvPr>
          <p:cNvSpPr>
            <a:spLocks noGrp="1"/>
          </p:cNvSpPr>
          <p:nvPr>
            <p:ph idx="1"/>
          </p:nvPr>
        </p:nvSpPr>
        <p:spPr/>
        <p:txBody>
          <a:bodyPr/>
          <a:lstStyle/>
          <a:p>
            <a:r>
              <a:rPr lang="en-GB" dirty="0" err="1"/>
              <a:t>AwsLambdaPSCore</a:t>
            </a:r>
            <a:r>
              <a:rPr lang="en-GB" dirty="0"/>
              <a:t> module</a:t>
            </a:r>
          </a:p>
          <a:p>
            <a:endParaRPr lang="en-GB" dirty="0"/>
          </a:p>
          <a:p>
            <a:r>
              <a:rPr lang="en-GB" dirty="0"/>
              <a:t>CloudFormation (sort of)</a:t>
            </a:r>
          </a:p>
        </p:txBody>
      </p:sp>
      <p:sp>
        <p:nvSpPr>
          <p:cNvPr id="5" name="TextBox 4">
            <a:extLst>
              <a:ext uri="{FF2B5EF4-FFF2-40B4-BE49-F238E27FC236}">
                <a16:creationId xmlns:a16="http://schemas.microsoft.com/office/drawing/2014/main" id="{CE216232-2647-41F8-989F-E9ADF623ED13}"/>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285973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2B78D-0DFE-485D-95AC-37CCC01E5B5E}"/>
              </a:ext>
            </a:extLst>
          </p:cNvPr>
          <p:cNvSpPr>
            <a:spLocks noGrp="1"/>
          </p:cNvSpPr>
          <p:nvPr>
            <p:ph type="title"/>
          </p:nvPr>
        </p:nvSpPr>
        <p:spPr/>
        <p:txBody>
          <a:bodyPr/>
          <a:lstStyle/>
          <a:p>
            <a:r>
              <a:rPr lang="en-GB" dirty="0"/>
              <a:t>The other stuff: Azure Functions</a:t>
            </a:r>
          </a:p>
        </p:txBody>
      </p:sp>
      <p:sp>
        <p:nvSpPr>
          <p:cNvPr id="3" name="Content Placeholder 2">
            <a:extLst>
              <a:ext uri="{FF2B5EF4-FFF2-40B4-BE49-F238E27FC236}">
                <a16:creationId xmlns:a16="http://schemas.microsoft.com/office/drawing/2014/main" id="{C5E9E9F7-8440-441E-B485-691C78E9A867}"/>
              </a:ext>
            </a:extLst>
          </p:cNvPr>
          <p:cNvSpPr>
            <a:spLocks noGrp="1"/>
          </p:cNvSpPr>
          <p:nvPr>
            <p:ph idx="1"/>
          </p:nvPr>
        </p:nvSpPr>
        <p:spPr/>
        <p:txBody>
          <a:bodyPr/>
          <a:lstStyle/>
          <a:p>
            <a:r>
              <a:rPr lang="en-GB" dirty="0"/>
              <a:t>Azure AD</a:t>
            </a:r>
          </a:p>
          <a:p>
            <a:endParaRPr lang="en-GB" dirty="0"/>
          </a:p>
          <a:p>
            <a:r>
              <a:rPr lang="en-GB" dirty="0"/>
              <a:t>Application Insights</a:t>
            </a:r>
          </a:p>
          <a:p>
            <a:endParaRPr lang="en-GB" dirty="0"/>
          </a:p>
          <a:p>
            <a:r>
              <a:rPr lang="en-GB" dirty="0"/>
              <a:t>Key Vault</a:t>
            </a:r>
          </a:p>
          <a:p>
            <a:endParaRPr lang="en-GB" dirty="0"/>
          </a:p>
          <a:p>
            <a:r>
              <a:rPr lang="en-GB" dirty="0"/>
              <a:t>Durable Functions (experimental)/Logic Apps</a:t>
            </a:r>
          </a:p>
        </p:txBody>
      </p:sp>
      <p:sp>
        <p:nvSpPr>
          <p:cNvPr id="5" name="TextBox 4">
            <a:extLst>
              <a:ext uri="{FF2B5EF4-FFF2-40B4-BE49-F238E27FC236}">
                <a16:creationId xmlns:a16="http://schemas.microsoft.com/office/drawing/2014/main" id="{681A99D7-E0AC-4A94-8BFF-11B76C439A42}"/>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72164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AECD-7297-4943-ADAE-43F232E9457A}"/>
              </a:ext>
            </a:extLst>
          </p:cNvPr>
          <p:cNvSpPr>
            <a:spLocks noGrp="1"/>
          </p:cNvSpPr>
          <p:nvPr>
            <p:ph type="title"/>
          </p:nvPr>
        </p:nvSpPr>
        <p:spPr/>
        <p:txBody>
          <a:bodyPr/>
          <a:lstStyle/>
          <a:p>
            <a:r>
              <a:rPr lang="en-GB" dirty="0"/>
              <a:t>The other stuff: AWS Lambda</a:t>
            </a:r>
          </a:p>
        </p:txBody>
      </p:sp>
      <p:sp>
        <p:nvSpPr>
          <p:cNvPr id="3" name="Content Placeholder 2">
            <a:extLst>
              <a:ext uri="{FF2B5EF4-FFF2-40B4-BE49-F238E27FC236}">
                <a16:creationId xmlns:a16="http://schemas.microsoft.com/office/drawing/2014/main" id="{4F4ECE73-9224-42BD-8E9F-30BE91EB3412}"/>
              </a:ext>
            </a:extLst>
          </p:cNvPr>
          <p:cNvSpPr>
            <a:spLocks noGrp="1"/>
          </p:cNvSpPr>
          <p:nvPr>
            <p:ph idx="1"/>
          </p:nvPr>
        </p:nvSpPr>
        <p:spPr/>
        <p:txBody>
          <a:bodyPr/>
          <a:lstStyle/>
          <a:p>
            <a:r>
              <a:rPr lang="en-GB" dirty="0"/>
              <a:t>System Manager Parameter Store</a:t>
            </a:r>
          </a:p>
          <a:p>
            <a:endParaRPr lang="en-GB" dirty="0"/>
          </a:p>
          <a:p>
            <a:r>
              <a:rPr lang="en-GB" dirty="0"/>
              <a:t>API Gateway</a:t>
            </a:r>
          </a:p>
          <a:p>
            <a:endParaRPr lang="en-GB" dirty="0"/>
          </a:p>
          <a:p>
            <a:r>
              <a:rPr lang="en-GB" dirty="0"/>
              <a:t>IAM</a:t>
            </a:r>
          </a:p>
          <a:p>
            <a:endParaRPr lang="en-GB" dirty="0"/>
          </a:p>
          <a:p>
            <a:r>
              <a:rPr lang="en-GB" dirty="0"/>
              <a:t>Step Functions</a:t>
            </a:r>
          </a:p>
        </p:txBody>
      </p:sp>
      <p:sp>
        <p:nvSpPr>
          <p:cNvPr id="5" name="TextBox 4">
            <a:extLst>
              <a:ext uri="{FF2B5EF4-FFF2-40B4-BE49-F238E27FC236}">
                <a16:creationId xmlns:a16="http://schemas.microsoft.com/office/drawing/2014/main" id="{5A1A9A95-1F8E-4014-A332-9AFE9328DFFF}"/>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301884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E530D-B4DC-4A09-A794-2FBFB4A2BAA3}"/>
              </a:ext>
            </a:extLst>
          </p:cNvPr>
          <p:cNvSpPr>
            <a:spLocks noGrp="1"/>
          </p:cNvSpPr>
          <p:nvPr>
            <p:ph type="title"/>
          </p:nvPr>
        </p:nvSpPr>
        <p:spPr/>
        <p:txBody>
          <a:bodyPr/>
          <a:lstStyle/>
          <a:p>
            <a:r>
              <a:rPr lang="en-GB" dirty="0"/>
              <a:t>Why Azure Functions</a:t>
            </a:r>
          </a:p>
        </p:txBody>
      </p:sp>
      <p:sp>
        <p:nvSpPr>
          <p:cNvPr id="3" name="Content Placeholder 2">
            <a:extLst>
              <a:ext uri="{FF2B5EF4-FFF2-40B4-BE49-F238E27FC236}">
                <a16:creationId xmlns:a16="http://schemas.microsoft.com/office/drawing/2014/main" id="{37BF091C-1808-4743-8AAA-579A8C1CBE5B}"/>
              </a:ext>
            </a:extLst>
          </p:cNvPr>
          <p:cNvSpPr>
            <a:spLocks noGrp="1"/>
          </p:cNvSpPr>
          <p:nvPr>
            <p:ph idx="1"/>
          </p:nvPr>
        </p:nvSpPr>
        <p:spPr/>
        <p:txBody>
          <a:bodyPr/>
          <a:lstStyle/>
          <a:p>
            <a:r>
              <a:rPr lang="en-GB" dirty="0"/>
              <a:t>Easy to create HTTP triggers</a:t>
            </a:r>
          </a:p>
          <a:p>
            <a:endParaRPr lang="en-GB" dirty="0"/>
          </a:p>
          <a:p>
            <a:r>
              <a:rPr lang="en-GB" dirty="0"/>
              <a:t>Wider range of output options</a:t>
            </a:r>
          </a:p>
          <a:p>
            <a:endParaRPr lang="en-GB" dirty="0"/>
          </a:p>
          <a:p>
            <a:r>
              <a:rPr lang="en-GB" dirty="0" err="1"/>
              <a:t>PoshBot</a:t>
            </a:r>
            <a:r>
              <a:rPr lang="en-GB" dirty="0"/>
              <a:t> uses them for it’s Teams integration</a:t>
            </a:r>
          </a:p>
        </p:txBody>
      </p:sp>
      <p:sp>
        <p:nvSpPr>
          <p:cNvPr id="5" name="TextBox 4">
            <a:extLst>
              <a:ext uri="{FF2B5EF4-FFF2-40B4-BE49-F238E27FC236}">
                <a16:creationId xmlns:a16="http://schemas.microsoft.com/office/drawing/2014/main" id="{0380EC1F-2A88-4029-A038-FFA107671E6F}"/>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83904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7A180-A281-4952-8656-BED30F11F5C9}"/>
              </a:ext>
            </a:extLst>
          </p:cNvPr>
          <p:cNvSpPr>
            <a:spLocks noGrp="1"/>
          </p:cNvSpPr>
          <p:nvPr>
            <p:ph type="title"/>
          </p:nvPr>
        </p:nvSpPr>
        <p:spPr/>
        <p:txBody>
          <a:bodyPr/>
          <a:lstStyle/>
          <a:p>
            <a:r>
              <a:rPr lang="en-GB" dirty="0"/>
              <a:t>Why AWS Lambda</a:t>
            </a:r>
          </a:p>
        </p:txBody>
      </p:sp>
      <p:sp>
        <p:nvSpPr>
          <p:cNvPr id="3" name="Content Placeholder 2">
            <a:extLst>
              <a:ext uri="{FF2B5EF4-FFF2-40B4-BE49-F238E27FC236}">
                <a16:creationId xmlns:a16="http://schemas.microsoft.com/office/drawing/2014/main" id="{6FB42B40-90B1-4E36-9043-F21DA4D9B0B4}"/>
              </a:ext>
            </a:extLst>
          </p:cNvPr>
          <p:cNvSpPr>
            <a:spLocks noGrp="1"/>
          </p:cNvSpPr>
          <p:nvPr>
            <p:ph idx="1"/>
          </p:nvPr>
        </p:nvSpPr>
        <p:spPr/>
        <p:txBody>
          <a:bodyPr/>
          <a:lstStyle/>
          <a:p>
            <a:r>
              <a:rPr lang="en-GB" dirty="0"/>
              <a:t>Parameter Store for flexible configuration</a:t>
            </a:r>
          </a:p>
          <a:p>
            <a:endParaRPr lang="en-GB" dirty="0"/>
          </a:p>
          <a:p>
            <a:r>
              <a:rPr lang="en-GB" dirty="0"/>
              <a:t>Consistent deployment model</a:t>
            </a:r>
          </a:p>
        </p:txBody>
      </p:sp>
      <p:sp>
        <p:nvSpPr>
          <p:cNvPr id="5" name="TextBox 4">
            <a:extLst>
              <a:ext uri="{FF2B5EF4-FFF2-40B4-BE49-F238E27FC236}">
                <a16:creationId xmlns:a16="http://schemas.microsoft.com/office/drawing/2014/main" id="{BB3371B1-C90B-45A3-BE6C-09105B382DB2}"/>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427518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4F877-7D1C-43ED-84CC-587777DD9A58}"/>
              </a:ext>
            </a:extLst>
          </p:cNvPr>
          <p:cNvSpPr>
            <a:spLocks noGrp="1"/>
          </p:cNvSpPr>
          <p:nvPr>
            <p:ph type="title"/>
          </p:nvPr>
        </p:nvSpPr>
        <p:spPr/>
        <p:txBody>
          <a:bodyPr/>
          <a:lstStyle/>
          <a:p>
            <a:r>
              <a:rPr lang="en-GB" dirty="0"/>
              <a:t>Winner?</a:t>
            </a:r>
          </a:p>
        </p:txBody>
      </p:sp>
      <p:sp>
        <p:nvSpPr>
          <p:cNvPr id="3" name="Content Placeholder 2">
            <a:extLst>
              <a:ext uri="{FF2B5EF4-FFF2-40B4-BE49-F238E27FC236}">
                <a16:creationId xmlns:a16="http://schemas.microsoft.com/office/drawing/2014/main" id="{91180AF5-D9AC-464E-9CB3-22BB71800A89}"/>
              </a:ext>
            </a:extLst>
          </p:cNvPr>
          <p:cNvSpPr>
            <a:spLocks noGrp="1"/>
          </p:cNvSpPr>
          <p:nvPr>
            <p:ph idx="1"/>
          </p:nvPr>
        </p:nvSpPr>
        <p:spPr/>
        <p:txBody>
          <a:bodyPr/>
          <a:lstStyle/>
          <a:p>
            <a:r>
              <a:rPr lang="en-GB" dirty="0"/>
              <a:t>Both</a:t>
            </a:r>
          </a:p>
        </p:txBody>
      </p:sp>
      <p:sp>
        <p:nvSpPr>
          <p:cNvPr id="4" name="TextBox 3">
            <a:extLst>
              <a:ext uri="{FF2B5EF4-FFF2-40B4-BE49-F238E27FC236}">
                <a16:creationId xmlns:a16="http://schemas.microsoft.com/office/drawing/2014/main" id="{02222CEB-00D5-4152-A743-C33545F75943}"/>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68207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32C7-C024-452B-A795-A7D65C061B2F}"/>
              </a:ext>
            </a:extLst>
          </p:cNvPr>
          <p:cNvSpPr>
            <a:spLocks noGrp="1"/>
          </p:cNvSpPr>
          <p:nvPr>
            <p:ph type="title"/>
          </p:nvPr>
        </p:nvSpPr>
        <p:spPr/>
        <p:txBody>
          <a:bodyPr/>
          <a:lstStyle/>
          <a:p>
            <a:r>
              <a:rPr lang="en-GB" dirty="0"/>
              <a:t>Slides etc</a:t>
            </a:r>
          </a:p>
        </p:txBody>
      </p:sp>
      <p:sp>
        <p:nvSpPr>
          <p:cNvPr id="3" name="Content Placeholder 2">
            <a:extLst>
              <a:ext uri="{FF2B5EF4-FFF2-40B4-BE49-F238E27FC236}">
                <a16:creationId xmlns:a16="http://schemas.microsoft.com/office/drawing/2014/main" id="{A4BC8F0C-B0D5-4827-9052-E4B57F9FC26D}"/>
              </a:ext>
            </a:extLst>
          </p:cNvPr>
          <p:cNvSpPr>
            <a:spLocks noGrp="1"/>
          </p:cNvSpPr>
          <p:nvPr>
            <p:ph idx="1"/>
          </p:nvPr>
        </p:nvSpPr>
        <p:spPr/>
        <p:txBody>
          <a:bodyPr/>
          <a:lstStyle/>
          <a:p>
            <a:r>
              <a:rPr lang="en-GB" dirty="0"/>
              <a:t>Github.com/</a:t>
            </a:r>
            <a:r>
              <a:rPr lang="en-GB" dirty="0" err="1"/>
              <a:t>chrislgardner</a:t>
            </a:r>
            <a:r>
              <a:rPr lang="en-GB" dirty="0"/>
              <a:t>/presentations</a:t>
            </a:r>
          </a:p>
          <a:p>
            <a:endParaRPr lang="en-GB" dirty="0"/>
          </a:p>
          <a:p>
            <a:r>
              <a:rPr lang="en-GB" dirty="0"/>
              <a:t>aka.ms/</a:t>
            </a:r>
            <a:r>
              <a:rPr lang="en-GB" dirty="0" err="1"/>
              <a:t>psdiscord</a:t>
            </a:r>
            <a:r>
              <a:rPr lang="en-GB" dirty="0"/>
              <a:t> or aka.ms/</a:t>
            </a:r>
            <a:r>
              <a:rPr lang="en-GB" dirty="0" err="1"/>
              <a:t>psslack</a:t>
            </a:r>
            <a:endParaRPr lang="en-GB" dirty="0"/>
          </a:p>
          <a:p>
            <a:endParaRPr lang="en-GB" dirty="0"/>
          </a:p>
          <a:p>
            <a:r>
              <a:rPr lang="en-GB" dirty="0"/>
              <a:t>Twitter: @</a:t>
            </a:r>
            <a:r>
              <a:rPr lang="en-GB" dirty="0" err="1"/>
              <a:t>HalbaradKenafin</a:t>
            </a:r>
            <a:endParaRPr lang="en-GB" dirty="0"/>
          </a:p>
        </p:txBody>
      </p:sp>
      <p:sp>
        <p:nvSpPr>
          <p:cNvPr id="4" name="TextBox 3">
            <a:extLst>
              <a:ext uri="{FF2B5EF4-FFF2-40B4-BE49-F238E27FC236}">
                <a16:creationId xmlns:a16="http://schemas.microsoft.com/office/drawing/2014/main" id="{49499446-BDC1-4734-9A5A-E58F506799B6}"/>
              </a:ext>
            </a:extLst>
          </p:cNvPr>
          <p:cNvSpPr txBox="1"/>
          <p:nvPr/>
        </p:nvSpPr>
        <p:spPr>
          <a:xfrm>
            <a:off x="57509" y="6435306"/>
            <a:ext cx="3916393" cy="369332"/>
          </a:xfrm>
          <a:prstGeom prst="rect">
            <a:avLst/>
          </a:prstGeom>
          <a:noFill/>
        </p:spPr>
        <p:txBody>
          <a:bodyPr wrap="square" rtlCol="0">
            <a:spAutoFit/>
          </a:bodyPr>
          <a:lstStyle/>
          <a:p>
            <a:r>
              <a:rPr lang="en-GB" dirty="0">
                <a:solidFill>
                  <a:schemeClr val="bg1"/>
                </a:solidFill>
              </a:rPr>
              <a:t>@</a:t>
            </a:r>
            <a:r>
              <a:rPr lang="en-GB" dirty="0" err="1">
                <a:solidFill>
                  <a:schemeClr val="bg1"/>
                </a:solidFill>
              </a:rPr>
              <a:t>HalbaradKenafin</a:t>
            </a:r>
            <a:endParaRPr lang="en-GB" dirty="0">
              <a:solidFill>
                <a:schemeClr val="bg1"/>
              </a:solidFill>
            </a:endParaRPr>
          </a:p>
        </p:txBody>
      </p:sp>
    </p:spTree>
    <p:extLst>
      <p:ext uri="{BB962C8B-B14F-4D97-AF65-F5344CB8AC3E}">
        <p14:creationId xmlns:p14="http://schemas.microsoft.com/office/powerpoint/2010/main" val="348801929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2754</TotalTime>
  <Words>2847</Words>
  <Application>Microsoft Office PowerPoint</Application>
  <PresentationFormat>Widescreen</PresentationFormat>
  <Paragraphs>220</Paragraphs>
  <Slides>19</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Retrospect</vt:lpstr>
      <vt:lpstr>PowerPoint Presentation</vt:lpstr>
      <vt:lpstr>Whoami</vt:lpstr>
      <vt:lpstr>Agenda</vt:lpstr>
      <vt:lpstr>Serverless?</vt:lpstr>
      <vt:lpstr>Why would I use Serverless?</vt:lpstr>
      <vt:lpstr>Why would I use Serverless (FaaS)?</vt:lpstr>
      <vt:lpstr>Show me what you got: Azure Functions</vt:lpstr>
      <vt:lpstr>DEMO</vt:lpstr>
      <vt:lpstr>Show me what you got: AWS Lambda</vt:lpstr>
      <vt:lpstr>DEMO</vt:lpstr>
      <vt:lpstr>Spot the Difference</vt:lpstr>
      <vt:lpstr>Deployment: Azure Functions</vt:lpstr>
      <vt:lpstr>Deployment: AWS Lambda</vt:lpstr>
      <vt:lpstr>The other stuff: Azure Functions</vt:lpstr>
      <vt:lpstr>The other stuff: AWS Lambda</vt:lpstr>
      <vt:lpstr>Why Azure Functions</vt:lpstr>
      <vt:lpstr>Why AWS Lambda</vt:lpstr>
      <vt:lpstr>Winner?</vt:lpstr>
      <vt:lpstr>Slides etc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Gardner</dc:creator>
  <cp:lastModifiedBy>Chris Gardner</cp:lastModifiedBy>
  <cp:revision>51</cp:revision>
  <dcterms:created xsi:type="dcterms:W3CDTF">2020-04-11T11:30:40Z</dcterms:created>
  <dcterms:modified xsi:type="dcterms:W3CDTF">2020-04-30T13:11:46Z</dcterms:modified>
</cp:coreProperties>
</file>